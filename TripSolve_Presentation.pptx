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8"/>
  </p:notesMasterIdLst>
  <p:handoutMasterIdLst>
    <p:handoutMasterId r:id="rId19"/>
  </p:handoutMasterIdLst>
  <p:sldIdLst>
    <p:sldId id="410" r:id="rId5"/>
    <p:sldId id="383" r:id="rId6"/>
    <p:sldId id="391" r:id="rId7"/>
    <p:sldId id="408" r:id="rId8"/>
    <p:sldId id="416" r:id="rId9"/>
    <p:sldId id="411" r:id="rId10"/>
    <p:sldId id="413" r:id="rId11"/>
    <p:sldId id="417" r:id="rId12"/>
    <p:sldId id="418" r:id="rId13"/>
    <p:sldId id="404" r:id="rId14"/>
    <p:sldId id="414" r:id="rId15"/>
    <p:sldId id="415" r:id="rId16"/>
    <p:sldId id="39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98" autoAdjust="0"/>
    <p:restoredTop sz="38604" autoAdjust="0"/>
  </p:normalViewPr>
  <p:slideViewPr>
    <p:cSldViewPr snapToGrid="0">
      <p:cViewPr>
        <p:scale>
          <a:sx n="50" d="100"/>
          <a:sy n="50" d="100"/>
        </p:scale>
        <p:origin x="1192" y="2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pPr/>
              <a:t>9/22/2026</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pPr/>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pPr/>
              <a:t>9/22/2026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pPr/>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TripSolve</a:t>
            </a:r>
            <a:r>
              <a:rPr lang="en-IN" dirty="0"/>
              <a:t> is a web-based system that generates an optimized sightseeing itinerary based on the user's available time, interests, attraction timings, actual travel time, and group preferences.</a:t>
            </a:r>
          </a:p>
          <a:p>
            <a:r>
              <a:rPr lang="en-IN" dirty="0"/>
              <a:t>The main idea of our project is that we don't simply ask an AI model to generate an itinerary. Instead, we use </a:t>
            </a:r>
            <a:r>
              <a:rPr lang="en-IN" b="1" dirty="0"/>
              <a:t>mathematical optimization to decide the route</a:t>
            </a:r>
            <a:r>
              <a:rPr lang="en-IN" dirty="0"/>
              <a:t>, while using an LLM for natural-language understanding and explanation."</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I'll first explain the problem we are solving and our objectives, then I'll cover our dataset, methodology, system architecture and workflow. Finally, I'll discuss our research contributions, expected outcomes and future scope</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Planning a multi-stop trip in a city like Jaipur is actually a difficult computational problem.</a:t>
            </a:r>
          </a:p>
          <a:p>
            <a:r>
              <a:rPr lang="en-IN" dirty="0"/>
              <a:t>We have to decide </a:t>
            </a:r>
            <a:r>
              <a:rPr lang="en-IN" b="1" dirty="0"/>
              <a:t>which attractions to visit and in what order</a:t>
            </a:r>
            <a:r>
              <a:rPr lang="en-IN" dirty="0"/>
              <a:t>, while making sure that every attraction is visited during its opening hours.</a:t>
            </a:r>
          </a:p>
          <a:p>
            <a:r>
              <a:rPr lang="en-IN" dirty="0"/>
              <a:t>We also have to consider the </a:t>
            </a:r>
            <a:r>
              <a:rPr lang="en-IN" b="1" dirty="0"/>
              <a:t>actual travel time between attractions</a:t>
            </a:r>
            <a:r>
              <a:rPr lang="en-IN" dirty="0"/>
              <a:t>, because road travel time is different from simply measuring straight-line distance.</a:t>
            </a:r>
          </a:p>
          <a:p>
            <a:r>
              <a:rPr lang="en-IN" dirty="0"/>
              <a:t>And when we're planning for a group, everyone may have different interests. One person may prefer monuments, another may prefer shopping, and someone else may prefer food.</a:t>
            </a:r>
          </a:p>
          <a:p>
            <a:r>
              <a:rPr lang="en-IN" dirty="0"/>
              <a:t>Existing itinerary generators can produce plans that look realistic, but they may violate these hard constraints.</a:t>
            </a:r>
          </a:p>
          <a:p>
            <a:r>
              <a:rPr lang="en-IN" dirty="0"/>
              <a:t>So </a:t>
            </a:r>
            <a:r>
              <a:rPr lang="en-IN" dirty="0" err="1"/>
              <a:t>TripSolve</a:t>
            </a:r>
            <a:r>
              <a:rPr lang="en-IN" dirty="0"/>
              <a:t> takes a different approach. We use </a:t>
            </a:r>
            <a:r>
              <a:rPr lang="en-IN" b="1" dirty="0"/>
              <a:t>optimization for making the routing decision</a:t>
            </a:r>
            <a:r>
              <a:rPr lang="en-IN" dirty="0"/>
              <a:t>, and use the LLM only for understanding free-text input and explaining the final decision.</a:t>
            </a:r>
          </a:p>
        </p:txBody>
      </p:sp>
      <p:sp>
        <p:nvSpPr>
          <p:cNvPr id="4" name="Slide Number Placeholder 3"/>
          <p:cNvSpPr>
            <a:spLocks noGrp="1"/>
          </p:cNvSpPr>
          <p:nvPr>
            <p:ph type="sldNum" sz="quarter" idx="5"/>
          </p:nvPr>
        </p:nvSpPr>
        <p:spPr/>
        <p:txBody>
          <a:bodyPr/>
          <a:lstStyle/>
          <a:p>
            <a:fld id="{A89C7E07-3C67-C64C-8DA0-0404F6303970}" type="slidenum">
              <a:rPr lang="en-US" smtClean="0"/>
              <a:pPr/>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There are three major challenges we are addressing.</a:t>
            </a:r>
          </a:p>
          <a:p>
            <a:r>
              <a:rPr lang="en-IN" dirty="0"/>
              <a:t>First, </a:t>
            </a:r>
            <a:r>
              <a:rPr lang="en-IN" b="1" dirty="0"/>
              <a:t>time-window constraints</a:t>
            </a:r>
            <a:r>
              <a:rPr lang="en-IN" dirty="0"/>
              <a:t> — attractions have specific opening and closing times.</a:t>
            </a:r>
          </a:p>
          <a:p>
            <a:r>
              <a:rPr lang="en-IN" dirty="0"/>
              <a:t>Second, </a:t>
            </a:r>
            <a:r>
              <a:rPr lang="en-IN" b="1" dirty="0"/>
              <a:t>real road-network travel time</a:t>
            </a:r>
            <a:r>
              <a:rPr lang="en-IN" dirty="0"/>
              <a:t> — we need realistic travel times between attractions rather than straight-line distances.</a:t>
            </a:r>
          </a:p>
          <a:p>
            <a:r>
              <a:rPr lang="en-IN" dirty="0"/>
              <a:t>Third, </a:t>
            </a:r>
            <a:r>
              <a:rPr lang="en-IN" b="1" dirty="0"/>
              <a:t>conflicting group preferences</a:t>
            </a:r>
            <a:r>
              <a:rPr lang="en-IN" dirty="0"/>
              <a:t> — different </a:t>
            </a:r>
            <a:r>
              <a:rPr lang="en-IN" dirty="0" err="1"/>
              <a:t>travelers</a:t>
            </a:r>
            <a:r>
              <a:rPr lang="en-IN" dirty="0"/>
              <a:t> may want completely different experiences.</a:t>
            </a:r>
          </a:p>
          <a:p>
            <a:r>
              <a:rPr lang="en-IN" dirty="0"/>
              <a:t>Therefore, our objectives are to generate routes using real optimization, ensure time-window feasibility, combine multiple </a:t>
            </a:r>
            <a:r>
              <a:rPr lang="en-IN" dirty="0" err="1"/>
              <a:t>travelers'</a:t>
            </a:r>
            <a:r>
              <a:rPr lang="en-IN" dirty="0"/>
              <a:t> preferences into one shared route, make the reasoning behind the route explainable, and design the backend so it can eventually support cities beyond Jaipur.</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4</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the core technical part of our project.</a:t>
            </a:r>
          </a:p>
          <a:p>
            <a:r>
              <a:rPr lang="en-IN" dirty="0"/>
              <a:t>We model the itinerary planning problem as a </a:t>
            </a:r>
            <a:r>
              <a:rPr lang="en-IN" b="1" dirty="0"/>
              <a:t>Team Orienteering Problem with Time Windows</a:t>
            </a:r>
            <a:r>
              <a:rPr lang="en-IN" dirty="0"/>
              <a:t>, or </a:t>
            </a:r>
            <a:r>
              <a:rPr lang="en-IN" b="1" dirty="0"/>
              <a:t>TOPTW</a:t>
            </a:r>
            <a:r>
              <a:rPr lang="en-IN" dirty="0"/>
              <a:t>.</a:t>
            </a:r>
          </a:p>
          <a:p>
            <a:r>
              <a:rPr lang="en-IN" dirty="0"/>
              <a:t>The basic idea is that every attraction has a certain utility or score, an opening and closing time, and a visit duration.</a:t>
            </a:r>
          </a:p>
          <a:p>
            <a:r>
              <a:rPr lang="en-IN" dirty="0"/>
              <a:t>At the same time, the </a:t>
            </a:r>
            <a:r>
              <a:rPr lang="en-IN" dirty="0" err="1"/>
              <a:t>traveler</a:t>
            </a:r>
            <a:r>
              <a:rPr lang="en-IN" dirty="0"/>
              <a:t> has a limited amount of time.</a:t>
            </a:r>
          </a:p>
          <a:p>
            <a:r>
              <a:rPr lang="en-IN" dirty="0"/>
              <a:t>So the system has to decide:</a:t>
            </a:r>
          </a:p>
          <a:p>
            <a:r>
              <a:rPr lang="en-IN" b="1" dirty="0"/>
              <a:t>Which attractions should we select?</a:t>
            </a:r>
            <a:endParaRPr lang="en-IN" dirty="0"/>
          </a:p>
          <a:p>
            <a:r>
              <a:rPr lang="en-IN" dirty="0"/>
              <a:t>And:</a:t>
            </a:r>
          </a:p>
          <a:p>
            <a:r>
              <a:rPr lang="en-IN" b="1" dirty="0"/>
              <a:t>In what order should we visit them?</a:t>
            </a:r>
            <a:endParaRPr lang="en-IN" dirty="0"/>
          </a:p>
          <a:p>
            <a:r>
              <a:rPr lang="en-IN" dirty="0"/>
              <a:t>The objective is to maximize the total utility of the selected attractions while satisfying all the constraints — including opening and closing times, travel time between attractions, visit duration and the overall time budget.</a:t>
            </a:r>
          </a:p>
          <a:p>
            <a:r>
              <a:rPr lang="en-IN" dirty="0"/>
              <a:t>We use </a:t>
            </a:r>
            <a:r>
              <a:rPr lang="en-IN" b="1" dirty="0"/>
              <a:t>Google OR-Tools</a:t>
            </a:r>
            <a:r>
              <a:rPr lang="en-IN" dirty="0"/>
              <a:t> to solve this optimization problem.</a:t>
            </a:r>
          </a:p>
          <a:p>
            <a:r>
              <a:rPr lang="en-IN" dirty="0"/>
              <a:t>And one of the most important design decisions in our project is that the </a:t>
            </a:r>
            <a:r>
              <a:rPr lang="en-IN" b="1" dirty="0"/>
              <a:t>LLM does not decide the route</a:t>
            </a:r>
            <a:r>
              <a:rPr lang="en-IN" dirty="0"/>
              <a:t>.</a:t>
            </a:r>
          </a:p>
          <a:p>
            <a:r>
              <a:rPr lang="en-IN" dirty="0"/>
              <a:t>The LLM understands the user's natural-language input and later explains the result, but </a:t>
            </a:r>
            <a:r>
              <a:rPr lang="en-IN" b="1" dirty="0"/>
              <a:t>OR-Tools actually makes the routing decision</a:t>
            </a:r>
            <a:r>
              <a:rPr lang="en-IN" dirty="0"/>
              <a:t>.</a:t>
            </a:r>
          </a:p>
          <a:p>
            <a:r>
              <a:rPr lang="en-IN" dirty="0"/>
              <a:t>So, in one line:</a:t>
            </a:r>
          </a:p>
          <a:p>
            <a:r>
              <a:rPr lang="en-IN" b="1" dirty="0"/>
              <a:t>The LLM understands, OR-Tools optimizes, and the LLM explains</a:t>
            </a:r>
            <a:endParaRPr lang="en-IN" dirty="0"/>
          </a:p>
          <a:p>
            <a:endParaRPr lang="en-IN"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5</a:t>
            </a:fld>
            <a:endParaRPr lang="en-US" dirty="0"/>
          </a:p>
        </p:txBody>
      </p:sp>
    </p:spTree>
    <p:extLst>
      <p:ext uri="{BB962C8B-B14F-4D97-AF65-F5344CB8AC3E}">
        <p14:creationId xmlns:p14="http://schemas.microsoft.com/office/powerpoint/2010/main" val="2911416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F9DD9-6570-B868-F400-8F352021A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CA3A3B-C6A5-1814-F4E6-CD5E85D9E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F03837-C00B-078E-9E0A-BC5291270E9E}"/>
              </a:ext>
            </a:extLst>
          </p:cNvPr>
          <p:cNvSpPr>
            <a:spLocks noGrp="1"/>
          </p:cNvSpPr>
          <p:nvPr>
            <p:ph type="body" idx="1"/>
          </p:nvPr>
        </p:nvSpPr>
        <p:spPr/>
        <p:txBody>
          <a:bodyPr/>
          <a:lstStyle/>
          <a:p>
            <a:r>
              <a:rPr lang="en-IN" dirty="0"/>
              <a:t>For our system, we maintain a seeded database of Jaipur Points of Interest, including monuments, markets and eateries.</a:t>
            </a:r>
          </a:p>
          <a:p>
            <a:r>
              <a:rPr lang="en-IN" dirty="0"/>
              <a:t>Each attraction contains information such as its geographical location, opening and closing time, average visit duration and category.</a:t>
            </a:r>
          </a:p>
          <a:p>
            <a:r>
              <a:rPr lang="en-IN" dirty="0"/>
              <a:t>This data is stored in </a:t>
            </a:r>
            <a:r>
              <a:rPr lang="en-IN" b="1" dirty="0"/>
              <a:t>PostgreSQL with </a:t>
            </a:r>
            <a:r>
              <a:rPr lang="en-IN" b="1" dirty="0" err="1"/>
              <a:t>PostGIS</a:t>
            </a:r>
            <a:r>
              <a:rPr lang="en-IN" dirty="0"/>
              <a:t>, which allows us to perform spatial queries.</a:t>
            </a:r>
          </a:p>
          <a:p>
            <a:r>
              <a:rPr lang="en-IN" dirty="0"/>
              <a:t>For road-network information, we use </a:t>
            </a:r>
            <a:r>
              <a:rPr lang="en-IN" b="1" dirty="0"/>
              <a:t>OpenStreetMap</a:t>
            </a:r>
            <a:r>
              <a:rPr lang="en-IN" dirty="0"/>
              <a:t>.</a:t>
            </a:r>
          </a:p>
          <a:p>
            <a:r>
              <a:rPr lang="en-IN" dirty="0"/>
              <a:t>We use </a:t>
            </a:r>
            <a:r>
              <a:rPr lang="en-IN" b="1" dirty="0" err="1"/>
              <a:t>Nominatim</a:t>
            </a:r>
            <a:r>
              <a:rPr lang="en-IN" b="1" dirty="0"/>
              <a:t> for geocoding</a:t>
            </a:r>
            <a:r>
              <a:rPr lang="en-IN" dirty="0"/>
              <a:t> and </a:t>
            </a:r>
            <a:r>
              <a:rPr lang="en-IN" b="1" dirty="0"/>
              <a:t>OSRM — Open Source Routing Machine — for realistic road travel times</a:t>
            </a:r>
            <a:r>
              <a:rPr lang="en-IN" dirty="0"/>
              <a:t> between the attractions.</a:t>
            </a:r>
          </a:p>
          <a:p>
            <a:r>
              <a:rPr lang="en-IN" dirty="0"/>
              <a:t>So our routing isn't based simply on geographical distance; it uses road-network travel time</a:t>
            </a:r>
          </a:p>
          <a:p>
            <a:endParaRPr lang="en-US" dirty="0"/>
          </a:p>
        </p:txBody>
      </p:sp>
      <p:sp>
        <p:nvSpPr>
          <p:cNvPr id="4" name="Slide Number Placeholder 3">
            <a:extLst>
              <a:ext uri="{FF2B5EF4-FFF2-40B4-BE49-F238E27FC236}">
                <a16:creationId xmlns:a16="http://schemas.microsoft.com/office/drawing/2014/main" id="{E39CE08B-B06D-B987-67E8-5E4BD0A26459}"/>
              </a:ext>
            </a:extLst>
          </p:cNvPr>
          <p:cNvSpPr>
            <a:spLocks noGrp="1"/>
          </p:cNvSpPr>
          <p:nvPr>
            <p:ph type="sldNum" sz="quarter" idx="5"/>
          </p:nvPr>
        </p:nvSpPr>
        <p:spPr/>
        <p:txBody>
          <a:bodyPr/>
          <a:lstStyle/>
          <a:p>
            <a:fld id="{A89C7E07-3C67-C64C-8DA0-0404F6303970}" type="slidenum">
              <a:rPr lang="en-US" smtClean="0"/>
              <a:pPr/>
              <a:t>6</a:t>
            </a:fld>
            <a:endParaRPr lang="en-US" dirty="0"/>
          </a:p>
        </p:txBody>
      </p:sp>
    </p:spTree>
    <p:extLst>
      <p:ext uri="{BB962C8B-B14F-4D97-AF65-F5344CB8AC3E}">
        <p14:creationId xmlns:p14="http://schemas.microsoft.com/office/powerpoint/2010/main" val="436700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C1144-5C29-A49B-4A68-27719161D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8AD34-DFFE-4606-286A-D8F2346DF4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43DF8-F1A5-4136-1FF7-2A73B7A67FA0}"/>
              </a:ext>
            </a:extLst>
          </p:cNvPr>
          <p:cNvSpPr>
            <a:spLocks noGrp="1"/>
          </p:cNvSpPr>
          <p:nvPr>
            <p:ph type="body" idx="1"/>
          </p:nvPr>
        </p:nvSpPr>
        <p:spPr/>
        <p:txBody>
          <a:bodyPr/>
          <a:lstStyle/>
          <a:p>
            <a:r>
              <a:rPr lang="en-IN" dirty="0"/>
              <a:t>Coming to our methodology, attraction selection and sequencing is </a:t>
            </a:r>
            <a:r>
              <a:rPr lang="en-IN" dirty="0" err="1"/>
              <a:t>modeled</a:t>
            </a:r>
            <a:r>
              <a:rPr lang="en-IN" dirty="0"/>
              <a:t> as TOPTW and solved using Google OR-Tools.</a:t>
            </a:r>
          </a:p>
          <a:p>
            <a:r>
              <a:rPr lang="en-IN" dirty="0"/>
              <a:t>For group trips, each member provides their own preferences. We calculate individual preference scores and combine them into a shared utility score for each attraction.</a:t>
            </a:r>
          </a:p>
          <a:p>
            <a:r>
              <a:rPr lang="en-IN" dirty="0"/>
              <a:t>This shared utility is then provided to the optimization engine.</a:t>
            </a:r>
          </a:p>
          <a:p>
            <a:r>
              <a:rPr lang="en-IN" dirty="0"/>
              <a:t>We use </a:t>
            </a:r>
            <a:r>
              <a:rPr lang="en-IN" b="1" dirty="0"/>
              <a:t>Llama 3.3</a:t>
            </a:r>
            <a:r>
              <a:rPr lang="en-IN" dirty="0"/>
              <a:t> as our language model.</a:t>
            </a:r>
          </a:p>
          <a:p>
            <a:r>
              <a:rPr lang="en-IN" dirty="0"/>
              <a:t>Its role is limited to two tasks:</a:t>
            </a:r>
          </a:p>
          <a:p>
            <a:r>
              <a:rPr lang="en-IN" dirty="0"/>
              <a:t>First, parsing free-text input into structured preferences.</a:t>
            </a:r>
          </a:p>
          <a:p>
            <a:r>
              <a:rPr lang="en-IN" dirty="0"/>
              <a:t>And second, generating a plain-language explanation of the route.</a:t>
            </a:r>
          </a:p>
          <a:p>
            <a:r>
              <a:rPr lang="en-IN" dirty="0"/>
              <a:t>It is never used to directly generate or modify the optimized route.</a:t>
            </a:r>
          </a:p>
          <a:p>
            <a:endParaRPr lang="en-US" dirty="0"/>
          </a:p>
        </p:txBody>
      </p:sp>
      <p:sp>
        <p:nvSpPr>
          <p:cNvPr id="4" name="Slide Number Placeholder 3">
            <a:extLst>
              <a:ext uri="{FF2B5EF4-FFF2-40B4-BE49-F238E27FC236}">
                <a16:creationId xmlns:a16="http://schemas.microsoft.com/office/drawing/2014/main" id="{51887302-5937-5FE4-9A50-C7E7BE4D0AE6}"/>
              </a:ext>
            </a:extLst>
          </p:cNvPr>
          <p:cNvSpPr>
            <a:spLocks noGrp="1"/>
          </p:cNvSpPr>
          <p:nvPr>
            <p:ph type="sldNum" sz="quarter" idx="5"/>
          </p:nvPr>
        </p:nvSpPr>
        <p:spPr/>
        <p:txBody>
          <a:bodyPr/>
          <a:lstStyle/>
          <a:p>
            <a:fld id="{A89C7E07-3C67-C64C-8DA0-0404F6303970}" type="slidenum">
              <a:rPr lang="en-US" smtClean="0"/>
              <a:pPr/>
              <a:t>7</a:t>
            </a:fld>
            <a:endParaRPr lang="en-US" dirty="0"/>
          </a:p>
        </p:txBody>
      </p:sp>
    </p:spTree>
    <p:extLst>
      <p:ext uri="{BB962C8B-B14F-4D97-AF65-F5344CB8AC3E}">
        <p14:creationId xmlns:p14="http://schemas.microsoft.com/office/powerpoint/2010/main" val="2191464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system follows a layered architecture.</a:t>
            </a:r>
          </a:p>
          <a:p>
            <a:r>
              <a:rPr lang="en-IN" dirty="0"/>
              <a:t>At the </a:t>
            </a:r>
            <a:r>
              <a:rPr lang="en-IN" b="1" dirty="0"/>
              <a:t>presentation layer</a:t>
            </a:r>
            <a:r>
              <a:rPr lang="en-IN" dirty="0"/>
              <a:t>, we use </a:t>
            </a:r>
            <a:r>
              <a:rPr lang="en-IN" b="1" dirty="0"/>
              <a:t>Next.js and Leaflet.js</a:t>
            </a:r>
            <a:r>
              <a:rPr lang="en-IN" dirty="0"/>
              <a:t> for the interface and interactive map.</a:t>
            </a:r>
          </a:p>
          <a:p>
            <a:r>
              <a:rPr lang="en-IN" dirty="0"/>
              <a:t>The </a:t>
            </a:r>
            <a:r>
              <a:rPr lang="en-IN" b="1" dirty="0"/>
              <a:t>API layer</a:t>
            </a:r>
            <a:r>
              <a:rPr lang="en-IN" dirty="0"/>
              <a:t> uses </a:t>
            </a:r>
            <a:r>
              <a:rPr lang="en-IN" dirty="0" err="1"/>
              <a:t>FastAPI</a:t>
            </a:r>
            <a:r>
              <a:rPr lang="en-IN" dirty="0"/>
              <a:t> to handle communication between the frontend and backend.</a:t>
            </a:r>
          </a:p>
          <a:p>
            <a:r>
              <a:rPr lang="en-IN" dirty="0"/>
              <a:t>The </a:t>
            </a:r>
            <a:r>
              <a:rPr lang="en-IN" b="1" dirty="0"/>
              <a:t>optimization layer</a:t>
            </a:r>
            <a:r>
              <a:rPr lang="en-IN" dirty="0"/>
              <a:t> contains our Google OR-Tools TOPTW solver.</a:t>
            </a:r>
          </a:p>
          <a:p>
            <a:r>
              <a:rPr lang="en-IN" dirty="0"/>
              <a:t>The </a:t>
            </a:r>
            <a:r>
              <a:rPr lang="en-IN" b="1" dirty="0"/>
              <a:t>AI layer</a:t>
            </a:r>
            <a:r>
              <a:rPr lang="en-IN" dirty="0"/>
              <a:t> contains the LLM client, which is restricted to parsing and explanation.</a:t>
            </a:r>
          </a:p>
          <a:p>
            <a:r>
              <a:rPr lang="en-IN" dirty="0"/>
              <a:t>And the </a:t>
            </a:r>
            <a:r>
              <a:rPr lang="en-IN" b="1" dirty="0"/>
              <a:t>data layer</a:t>
            </a:r>
            <a:r>
              <a:rPr lang="en-IN" dirty="0"/>
              <a:t> uses PostgreSQL and </a:t>
            </a:r>
            <a:r>
              <a:rPr lang="en-IN" dirty="0" err="1"/>
              <a:t>PostGIS</a:t>
            </a:r>
            <a:r>
              <a:rPr lang="en-IN" dirty="0"/>
              <a:t> for storing POIs, users, trips and preferences.</a:t>
            </a:r>
          </a:p>
          <a:p>
            <a:r>
              <a:rPr lang="en-IN" dirty="0"/>
              <a:t>We also have three important external services:</a:t>
            </a:r>
          </a:p>
          <a:p>
            <a:r>
              <a:rPr lang="en-IN" b="1" dirty="0"/>
              <a:t>OSRM</a:t>
            </a:r>
            <a:r>
              <a:rPr lang="en-IN" dirty="0"/>
              <a:t> for travel times,</a:t>
            </a:r>
          </a:p>
          <a:p>
            <a:r>
              <a:rPr lang="en-IN" b="1" dirty="0" err="1"/>
              <a:t>Nominatim</a:t>
            </a:r>
            <a:r>
              <a:rPr lang="en-IN" dirty="0"/>
              <a:t> for geocoding,</a:t>
            </a:r>
          </a:p>
          <a:p>
            <a:r>
              <a:rPr lang="en-IN" dirty="0"/>
              <a:t>and the </a:t>
            </a:r>
            <a:r>
              <a:rPr lang="en-IN" b="1" dirty="0"/>
              <a:t>LLM API</a:t>
            </a:r>
            <a:r>
              <a:rPr lang="en-IN" dirty="0"/>
              <a:t> for natural-language processing.</a:t>
            </a:r>
          </a:p>
          <a:p>
            <a:r>
              <a:rPr lang="en-IN" dirty="0"/>
              <a:t>These layers are kept decoupled, so individual components can be replaced without changing the entire system.</a:t>
            </a:r>
          </a:p>
          <a:p>
            <a:endParaRPr lang="en-IN"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8</a:t>
            </a:fld>
            <a:endParaRPr lang="en-US" dirty="0"/>
          </a:p>
        </p:txBody>
      </p:sp>
    </p:spTree>
    <p:extLst>
      <p:ext uri="{BB962C8B-B14F-4D97-AF65-F5344CB8AC3E}">
        <p14:creationId xmlns:p14="http://schemas.microsoft.com/office/powerpoint/2010/main" val="31556189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I'll explain the complete flow of the system.</a:t>
            </a:r>
          </a:p>
          <a:p>
            <a:r>
              <a:rPr lang="en-IN" b="1" dirty="0"/>
              <a:t>First</a:t>
            </a:r>
            <a:r>
              <a:rPr lang="en-IN" dirty="0"/>
              <a:t>, the user enters their available time, starting point, interests and possibly must-visit attractions.</a:t>
            </a:r>
          </a:p>
          <a:p>
            <a:r>
              <a:rPr lang="en-IN" b="1" dirty="0"/>
              <a:t>Second</a:t>
            </a:r>
            <a:r>
              <a:rPr lang="en-IN" dirty="0"/>
              <a:t>, if the user enters this information in free text, the LLM converts it into structured preferences.</a:t>
            </a:r>
          </a:p>
          <a:p>
            <a:r>
              <a:rPr lang="en-IN" b="1" dirty="0"/>
              <a:t>Third</a:t>
            </a:r>
            <a:r>
              <a:rPr lang="en-IN" dirty="0"/>
              <a:t>, our backend queries the </a:t>
            </a:r>
            <a:r>
              <a:rPr lang="en-IN" dirty="0" err="1"/>
              <a:t>PostGIS</a:t>
            </a:r>
            <a:r>
              <a:rPr lang="en-IN" dirty="0"/>
              <a:t> database and finds candidate attractions based on interests, location and opening hours.</a:t>
            </a:r>
          </a:p>
          <a:p>
            <a:r>
              <a:rPr lang="en-IN" b="1" dirty="0"/>
              <a:t>Fourth</a:t>
            </a:r>
            <a:r>
              <a:rPr lang="en-IN" dirty="0"/>
              <a:t>, OSRM provides the real travel-time matrix between these attractions.</a:t>
            </a:r>
          </a:p>
          <a:p>
            <a:r>
              <a:rPr lang="en-IN" b="1" dirty="0"/>
              <a:t>Fifth</a:t>
            </a:r>
            <a:r>
              <a:rPr lang="en-IN" dirty="0"/>
              <a:t>, for group trips, we combine the preferences of all members into a shared utility score.</a:t>
            </a:r>
          </a:p>
          <a:p>
            <a:r>
              <a:rPr lang="en-IN" b="1" dirty="0"/>
              <a:t>Sixth</a:t>
            </a:r>
            <a:r>
              <a:rPr lang="en-IN" dirty="0"/>
              <a:t>, we pass all these inputs — attractions, utility scores, time windows, travel times and time budget — to the OR-Tools TOPTW solver.</a:t>
            </a:r>
          </a:p>
          <a:p>
            <a:r>
              <a:rPr lang="en-IN" dirty="0"/>
              <a:t>The solver then selects and orders the attractions to produce a feasible route.</a:t>
            </a:r>
          </a:p>
          <a:p>
            <a:r>
              <a:rPr lang="en-IN" b="1" dirty="0"/>
              <a:t>Seventh</a:t>
            </a:r>
            <a:r>
              <a:rPr lang="en-IN" dirty="0"/>
              <a:t>, the LLM explains the important trade-offs behind the result.</a:t>
            </a:r>
          </a:p>
          <a:p>
            <a:r>
              <a:rPr lang="en-IN" dirty="0"/>
              <a:t>And finally, </a:t>
            </a:r>
            <a:r>
              <a:rPr lang="en-IN" b="1" dirty="0"/>
              <a:t>the route is displayed on the Leaflet map</a:t>
            </a:r>
            <a:r>
              <a:rPr lang="en-IN" dirty="0"/>
              <a:t>, and authenticated users can save the trip.</a:t>
            </a:r>
          </a:p>
        </p:txBody>
      </p:sp>
      <p:sp>
        <p:nvSpPr>
          <p:cNvPr id="4" name="Slide Number Placeholder 3"/>
          <p:cNvSpPr>
            <a:spLocks noGrp="1"/>
          </p:cNvSpPr>
          <p:nvPr>
            <p:ph type="sldNum" sz="quarter" idx="5"/>
          </p:nvPr>
        </p:nvSpPr>
        <p:spPr/>
        <p:txBody>
          <a:bodyPr/>
          <a:lstStyle/>
          <a:p>
            <a:fld id="{A89C7E07-3C67-C64C-8DA0-0404F6303970}" type="slidenum">
              <a:rPr lang="en-US" smtClean="0"/>
              <a:pPr/>
              <a:t>9</a:t>
            </a:fld>
            <a:endParaRPr lang="en-US" dirty="0"/>
          </a:p>
        </p:txBody>
      </p:sp>
    </p:spTree>
    <p:extLst>
      <p:ext uri="{BB962C8B-B14F-4D97-AF65-F5344CB8AC3E}">
        <p14:creationId xmlns:p14="http://schemas.microsoft.com/office/powerpoint/2010/main" val="1999475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Our project has several contributions.</a:t>
            </a:r>
          </a:p>
          <a:p>
            <a:r>
              <a:rPr lang="en-IN" dirty="0"/>
              <a:t>First, it provides an </a:t>
            </a:r>
            <a:r>
              <a:rPr lang="en-IN" b="1" dirty="0"/>
              <a:t>optimization-grounded alternative to pure LLM itinerary generation</a:t>
            </a:r>
            <a:r>
              <a:rPr lang="en-IN" dirty="0"/>
              <a:t>.</a:t>
            </a:r>
          </a:p>
          <a:p>
            <a:r>
              <a:rPr lang="en-IN" dirty="0"/>
              <a:t>Second, it supports group planning by combining multiple </a:t>
            </a:r>
            <a:r>
              <a:rPr lang="en-IN" dirty="0" err="1"/>
              <a:t>travelers'</a:t>
            </a:r>
            <a:r>
              <a:rPr lang="en-IN" dirty="0"/>
              <a:t> preferences into a shared utility.</a:t>
            </a:r>
          </a:p>
          <a:p>
            <a:r>
              <a:rPr lang="en-IN" dirty="0"/>
              <a:t>Third, it uses a hybrid architecture where the LLM is restricted to parsing and explanation, keeping routing decisions auditable.</a:t>
            </a:r>
          </a:p>
          <a:p>
            <a:r>
              <a:rPr lang="en-IN" dirty="0"/>
              <a:t>Fourth, we have a planned evaluation where the same scenarios are given to both our OR-Tools pipeline and a pure-LLM baseline.</a:t>
            </a:r>
          </a:p>
          <a:p>
            <a:r>
              <a:rPr lang="en-IN" dirty="0"/>
              <a:t>We compare metrics such as total travel time, time-window violations and the number of requested attractions successfully included.</a:t>
            </a:r>
          </a:p>
          <a:p>
            <a:r>
              <a:rPr lang="en-IN" dirty="0"/>
              <a:t>So the project isn't only about generating an itinerary — it also provides a way to evaluate the quality of optimization-based planning against an LLM-based baseline.</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10</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C4374-5D9D-A337-851D-C51EE7DBD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48004-1860-0279-8ECB-10EBB713F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92F15-803A-6A6E-ADA5-06FED19EB766}"/>
              </a:ext>
            </a:extLst>
          </p:cNvPr>
          <p:cNvSpPr>
            <a:spLocks noGrp="1"/>
          </p:cNvSpPr>
          <p:nvPr>
            <p:ph type="body" idx="1"/>
          </p:nvPr>
        </p:nvSpPr>
        <p:spPr/>
        <p:txBody>
          <a:bodyPr/>
          <a:lstStyle/>
          <a:p>
            <a:r>
              <a:rPr lang="en-IN" dirty="0"/>
              <a:t>To conclude, </a:t>
            </a:r>
            <a:r>
              <a:rPr lang="en-IN" dirty="0" err="1"/>
              <a:t>TripSolve</a:t>
            </a:r>
            <a:r>
              <a:rPr lang="en-IN" dirty="0"/>
              <a:t> aims to provide a working optimization-based itinerary planner for Jaipur that can handle both individual and group </a:t>
            </a:r>
            <a:r>
              <a:rPr lang="en-IN" dirty="0" err="1"/>
              <a:t>travelers</a:t>
            </a:r>
            <a:r>
              <a:rPr lang="en-IN" dirty="0"/>
              <a:t>.</a:t>
            </a:r>
          </a:p>
          <a:p>
            <a:r>
              <a:rPr lang="en-IN" dirty="0"/>
              <a:t>The system combines real attraction data, road-network travel times, group preferences and mathematical optimization to generate a feasible route.</a:t>
            </a:r>
          </a:p>
          <a:p>
            <a:r>
              <a:rPr lang="en-IN" dirty="0"/>
              <a:t>For future work, we can extend the backend to other cities, introduce real-time re-optimization for group changes, incorporate traffic-aware travel times, refine the group preference weighting, and support multi-day itineraries.</a:t>
            </a:r>
          </a:p>
          <a:p>
            <a:r>
              <a:rPr lang="en-IN" dirty="0"/>
              <a:t>So the current project establishes the optimization-based foundation, while these features can make it more dynamic and scalable in the future.</a:t>
            </a:r>
          </a:p>
          <a:p>
            <a:endParaRPr lang="en-US" dirty="0"/>
          </a:p>
        </p:txBody>
      </p:sp>
      <p:sp>
        <p:nvSpPr>
          <p:cNvPr id="4" name="Slide Number Placeholder 3">
            <a:extLst>
              <a:ext uri="{FF2B5EF4-FFF2-40B4-BE49-F238E27FC236}">
                <a16:creationId xmlns:a16="http://schemas.microsoft.com/office/drawing/2014/main" id="{5E596A42-2D52-A8B3-23C3-BCB7424A09EB}"/>
              </a:ext>
            </a:extLst>
          </p:cNvPr>
          <p:cNvSpPr>
            <a:spLocks noGrp="1"/>
          </p:cNvSpPr>
          <p:nvPr>
            <p:ph type="sldNum" sz="quarter" idx="5"/>
          </p:nvPr>
        </p:nvSpPr>
        <p:spPr/>
        <p:txBody>
          <a:bodyPr/>
          <a:lstStyle/>
          <a:p>
            <a:fld id="{A89C7E07-3C67-C64C-8DA0-0404F6303970}" type="slidenum">
              <a:rPr lang="en-US" smtClean="0"/>
              <a:pPr/>
              <a:t>11</a:t>
            </a:fld>
            <a:endParaRPr lang="en-US" dirty="0"/>
          </a:p>
        </p:txBody>
      </p:sp>
    </p:spTree>
    <p:extLst>
      <p:ext uri="{BB962C8B-B14F-4D97-AF65-F5344CB8AC3E}">
        <p14:creationId xmlns:p14="http://schemas.microsoft.com/office/powerpoint/2010/main" val="3520395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119D0-7B58-BFA0-811D-F851D25AB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E062BF-34AD-6B1E-5E85-3AE327178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593B9-B113-A192-AB08-0D2B21B7C9D4}"/>
              </a:ext>
            </a:extLst>
          </p:cNvPr>
          <p:cNvSpPr>
            <a:spLocks noGrp="1"/>
          </p:cNvSpPr>
          <p:nvPr>
            <p:ph type="body" idx="1"/>
          </p:nvPr>
        </p:nvSpPr>
        <p:spPr/>
        <p:txBody>
          <a:bodyPr/>
          <a:lstStyle/>
          <a:p>
            <a:r>
              <a:rPr lang="en-IN" dirty="0"/>
              <a:t>These are the major references used in our project, including the </a:t>
            </a:r>
            <a:r>
              <a:rPr lang="en-IN" dirty="0" err="1"/>
              <a:t>TravelPlanner</a:t>
            </a:r>
            <a:r>
              <a:rPr lang="en-IN" dirty="0"/>
              <a:t> benchmark, Google OR-Tools documentation, research on the Orienteering Problem and group recommender systems, along with the documentation for OSRM, </a:t>
            </a:r>
            <a:r>
              <a:rPr lang="en-IN" dirty="0" err="1"/>
              <a:t>PostGIS</a:t>
            </a:r>
            <a:r>
              <a:rPr lang="en-IN" dirty="0"/>
              <a:t> and JWT</a:t>
            </a:r>
            <a:endParaRPr lang="en-US" dirty="0"/>
          </a:p>
        </p:txBody>
      </p:sp>
      <p:sp>
        <p:nvSpPr>
          <p:cNvPr id="4" name="Slide Number Placeholder 3">
            <a:extLst>
              <a:ext uri="{FF2B5EF4-FFF2-40B4-BE49-F238E27FC236}">
                <a16:creationId xmlns:a16="http://schemas.microsoft.com/office/drawing/2014/main" id="{A54E5978-3BEC-ADEA-ECFF-81C99C91A580}"/>
              </a:ext>
            </a:extLst>
          </p:cNvPr>
          <p:cNvSpPr>
            <a:spLocks noGrp="1"/>
          </p:cNvSpPr>
          <p:nvPr>
            <p:ph type="sldNum" sz="quarter" idx="5"/>
          </p:nvPr>
        </p:nvSpPr>
        <p:spPr/>
        <p:txBody>
          <a:bodyPr/>
          <a:lstStyle/>
          <a:p>
            <a:fld id="{A89C7E07-3C67-C64C-8DA0-0404F6303970}" type="slidenum">
              <a:rPr lang="en-US" smtClean="0"/>
              <a:pPr/>
              <a:t>12</a:t>
            </a:fld>
            <a:endParaRPr lang="en-US" dirty="0"/>
          </a:p>
        </p:txBody>
      </p:sp>
    </p:spTree>
    <p:extLst>
      <p:ext uri="{BB962C8B-B14F-4D97-AF65-F5344CB8AC3E}">
        <p14:creationId xmlns:p14="http://schemas.microsoft.com/office/powerpoint/2010/main" val="3884946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pPr/>
              <a:t>13</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2974428" y="1776248"/>
            <a:ext cx="8821877" cy="1545022"/>
          </a:xfrm>
          <a:prstGeom prst="rect">
            <a:avLst/>
          </a:prstGeom>
        </p:spPr>
        <p:txBody>
          <a:bodyPr lIns="0" tIns="0" rIns="0" bIns="0" anchor="b">
            <a:noAutofit/>
          </a:bodyPr>
          <a:lstStyle>
            <a:lvl1pPr algn="l">
              <a:lnSpc>
                <a:spcPct val="80000"/>
              </a:lnSpc>
              <a:defRPr sz="6000" b="0"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18566" y="3536731"/>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pic>
        <p:nvPicPr>
          <p:cNvPr id="4" name="Picture 3">
            <a:extLst>
              <a:ext uri="{FF2B5EF4-FFF2-40B4-BE49-F238E27FC236}">
                <a16:creationId xmlns:a16="http://schemas.microsoft.com/office/drawing/2014/main" id="{5677ABE6-7A99-1465-7E71-B773BDDF85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5213" y="110606"/>
            <a:ext cx="1271217" cy="1260211"/>
          </a:xfrm>
          <a:prstGeom prst="rect">
            <a:avLst/>
          </a:prstGeom>
        </p:spPr>
      </p:pic>
      <p:sp>
        <p:nvSpPr>
          <p:cNvPr id="6" name="Title 1">
            <a:extLst>
              <a:ext uri="{FF2B5EF4-FFF2-40B4-BE49-F238E27FC236}">
                <a16:creationId xmlns:a16="http://schemas.microsoft.com/office/drawing/2014/main" id="{EBECC182-57E0-959C-4601-EE42379B134C}"/>
              </a:ext>
            </a:extLst>
          </p:cNvPr>
          <p:cNvSpPr txBox="1">
            <a:spLocks/>
          </p:cNvSpPr>
          <p:nvPr userDrawn="1"/>
        </p:nvSpPr>
        <p:spPr>
          <a:xfrm>
            <a:off x="2554015" y="280008"/>
            <a:ext cx="9242290" cy="760516"/>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800" b="0" dirty="0">
                <a:solidFill>
                  <a:srgbClr val="C00000"/>
                </a:solidFill>
                <a:effectLst>
                  <a:outerShdw blurRad="38100" dist="38100" dir="2700000" algn="tl">
                    <a:srgbClr val="000000">
                      <a:alpha val="43137"/>
                    </a:srgbClr>
                  </a:outerShdw>
                </a:effectLst>
              </a:rPr>
              <a:t>Department of Computer Science &amp; Engineering,</a:t>
            </a:r>
          </a:p>
          <a:p>
            <a:pPr algn="ctr"/>
            <a:r>
              <a:rPr lang="en-US" sz="2800" b="0" dirty="0">
                <a:solidFill>
                  <a:srgbClr val="C00000"/>
                </a:solidFill>
                <a:effectLst>
                  <a:outerShdw blurRad="38100" dist="38100" dir="2700000" algn="tl">
                    <a:srgbClr val="000000">
                      <a:alpha val="43137"/>
                    </a:srgbClr>
                  </a:outerShdw>
                </a:effectLst>
              </a:rPr>
              <a:t>BIT Mesra, Jaipur Campus</a:t>
            </a:r>
          </a:p>
        </p:txBody>
      </p: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3"/>
            <a:ext cx="6787747" cy="758540"/>
          </a:xfrm>
          <a:prstGeom prst="rect">
            <a:avLst/>
          </a:prstGeom>
        </p:spPr>
        <p:txBody>
          <a:bodyPr lIns="0" tIns="0" rIns="0" bIns="0" anchor="b" anchorCtr="0">
            <a:noAutofit/>
          </a:bodyPr>
          <a:lstStyle>
            <a:lvl1pPr>
              <a:defRPr sz="4400" b="0"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1492144"/>
            <a:ext cx="6787747" cy="4498292"/>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59" y="1150357"/>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1234451"/>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909583"/>
          </a:xfrm>
          <a:prstGeom prst="rect">
            <a:avLst/>
          </a:prstGeom>
        </p:spPr>
        <p:txBody>
          <a:bodyPr lIns="0" tIns="0" rIns="0" bIns="0" anchor="b" anchorCtr="0">
            <a:noAutofit/>
          </a:bodyPr>
          <a:lstStyle>
            <a:lvl1pPr>
              <a:defRPr sz="4400" b="0"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1513490" y="1618593"/>
            <a:ext cx="9954610" cy="4430148"/>
          </a:xfrm>
        </p:spPr>
        <p:txBody>
          <a:bodyPr lIns="0" tIns="228600" rIns="0" bIns="0">
            <a:normAutofit/>
          </a:bodyPr>
          <a:lstStyle>
            <a:lvl1pPr marL="283464" indent="-283464">
              <a:spcBef>
                <a:spcPts val="1800"/>
              </a:spcBef>
              <a:buFont typeface="Arial" panose="020B0604020202020204" pitchFamily="34" charset="0"/>
              <a:buChar char="•"/>
              <a:defRPr sz="2400" b="1"/>
            </a:lvl1pPr>
            <a:lvl2pPr indent="-283464">
              <a:spcBef>
                <a:spcPts val="1800"/>
              </a:spcBef>
              <a:defRPr sz="2400" b="1"/>
            </a:lvl2pPr>
            <a:lvl3pPr indent="-283464">
              <a:spcBef>
                <a:spcPts val="1800"/>
              </a:spcBef>
              <a:defRPr sz="2400" b="1"/>
            </a:lvl3pPr>
            <a:lvl4pPr indent="-283464">
              <a:spcBef>
                <a:spcPts val="1800"/>
              </a:spcBef>
              <a:defRPr sz="2400" b="1"/>
            </a:lvl4pPr>
            <a:lvl5pPr indent="-283464">
              <a:spcBef>
                <a:spcPts val="1800"/>
              </a:spcBef>
              <a:defRPr sz="24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705851"/>
          </a:xfrm>
          <a:prstGeom prst="rect">
            <a:avLst/>
          </a:prstGeom>
        </p:spPr>
        <p:txBody>
          <a:bodyPr lIns="0" tIns="0" rIns="0" bIns="0" anchor="b" anchorCtr="0">
            <a:noAutofit/>
          </a:bodyPr>
          <a:lstStyle>
            <a:lvl1pPr>
              <a:defRPr sz="4400" b="0"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163026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163026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1244953"/>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693507"/>
          </a:xfrm>
          <a:prstGeom prst="rect">
            <a:avLst/>
          </a:prstGeom>
        </p:spPr>
        <p:txBody>
          <a:bodyPr lIns="0" tIns="0" rIns="0" bIns="0" anchor="b" anchorCtr="0">
            <a:noAutofit/>
          </a:bodyPr>
          <a:lstStyle>
            <a:lvl1pPr>
              <a:defRPr sz="4400" b="0"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1088114"/>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1460938"/>
            <a:ext cx="5746750" cy="4813057"/>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852745" y="1460938"/>
            <a:ext cx="4714415" cy="4813057"/>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746057"/>
          </a:xfrm>
          <a:prstGeom prst="rect">
            <a:avLst/>
          </a:prstGeom>
        </p:spPr>
        <p:txBody>
          <a:bodyPr lIns="0" tIns="0" rIns="0" bIns="0" anchor="b" anchorCtr="0">
            <a:noAutofit/>
          </a:bodyPr>
          <a:lstStyle>
            <a:lvl1pPr>
              <a:defRPr sz="4400" b="0"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1314209"/>
            <a:ext cx="10972800" cy="4951160"/>
          </a:xfrm>
        </p:spPr>
        <p:txBody>
          <a:bodyPr>
            <a:noAutofit/>
          </a:bodyPr>
          <a:lstStyle>
            <a:lvl1pPr>
              <a:defRPr/>
            </a:lvl1pPr>
          </a:lstStyle>
          <a:p>
            <a:r>
              <a:rPr lang="en-US" dirty="0"/>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1129337"/>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1324302" y="411479"/>
            <a:ext cx="4756457" cy="2834752"/>
          </a:xfrm>
          <a:prstGeom prst="rect">
            <a:avLst/>
          </a:prstGeom>
        </p:spPr>
        <p:txBody>
          <a:bodyPr lIns="0" tIns="0" rIns="0" bIns="0" anchor="b">
            <a:noAutofit/>
          </a:bodyPr>
          <a:lstStyle>
            <a:lvl1pPr algn="l">
              <a:lnSpc>
                <a:spcPct val="80000"/>
              </a:lnSpc>
              <a:defRPr sz="6000" b="0"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1324302" y="3804745"/>
            <a:ext cx="4756458" cy="2390727"/>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1324302" y="342900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dirty="0"/>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01" r:id="rId3"/>
    <p:sldLayoutId id="2147483709" r:id="rId4"/>
    <p:sldLayoutId id="2147483705" r:id="rId5"/>
    <p:sldLayoutId id="2147483704" r:id="rId6"/>
    <p:sldLayoutId id="2147483703" r:id="rId7"/>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3125972" y="411479"/>
            <a:ext cx="8670332" cy="2247745"/>
          </a:xfrm>
        </p:spPr>
        <p:txBody>
          <a:bodyPr/>
          <a:lstStyle/>
          <a:p>
            <a:r>
              <a:rPr lang="en-US" sz="2400" dirty="0"/>
              <a:t>TripSolve: An Optimization-Grade Group Itinerary Planner for Jaipur Tourism</a:t>
            </a:r>
            <a:endParaRPr lang="en-US" sz="2400" b="0" dirty="0"/>
          </a:p>
        </p:txBody>
      </p:sp>
      <p:sp>
        <p:nvSpPr>
          <p:cNvPr id="4" name="TextBox 3">
            <a:extLst>
              <a:ext uri="{FF2B5EF4-FFF2-40B4-BE49-F238E27FC236}">
                <a16:creationId xmlns:a16="http://schemas.microsoft.com/office/drawing/2014/main" id="{D6D53CB5-9DC3-C053-B3BF-EDDAD09A5C30}"/>
              </a:ext>
            </a:extLst>
          </p:cNvPr>
          <p:cNvSpPr txBox="1"/>
          <p:nvPr/>
        </p:nvSpPr>
        <p:spPr>
          <a:xfrm>
            <a:off x="5858540" y="3750310"/>
            <a:ext cx="5667153" cy="2900000"/>
          </a:xfrm>
          <a:prstGeom prst="rect">
            <a:avLst/>
          </a:prstGeom>
          <a:noFill/>
        </p:spPr>
        <p:txBody>
          <a:bodyPr wrap="square" rtlCol="0">
            <a:normAutofit/>
          </a:bodyPr>
          <a:lstStyle/>
          <a:p>
            <a:r>
              <a:rPr lang="en-US" sz="2000" b="1" dirty="0">
                <a:solidFill>
                  <a:srgbClr val="002060"/>
                </a:solidFill>
              </a:rPr>
              <a:t>Vidushi Himmatramka (BTECH/25139/23)</a:t>
            </a:r>
          </a:p>
          <a:p>
            <a:r>
              <a:rPr lang="en-US" sz="2000" b="1" dirty="0">
                <a:solidFill>
                  <a:srgbClr val="002060"/>
                </a:solidFill>
              </a:rPr>
              <a:t>Vedanshi Goyal (BTECH/25167/23)</a:t>
            </a:r>
          </a:p>
          <a:p>
            <a:r>
              <a:rPr lang="en-US" sz="2000" dirty="0">
                <a:solidFill>
                  <a:srgbClr val="002060"/>
                </a:solidFill>
              </a:rPr>
              <a:t>Class: CSE-7B</a:t>
            </a:r>
          </a:p>
          <a:p>
            <a:r>
              <a:rPr lang="en-IN" sz="2000" dirty="0">
                <a:solidFill>
                  <a:srgbClr val="002060"/>
                </a:solidFill>
              </a:rPr>
              <a:t>Under the Supervision of</a:t>
            </a:r>
          </a:p>
          <a:p>
            <a:r>
              <a:rPr lang="en-IN" sz="2000" b="1" dirty="0">
                <a:solidFill>
                  <a:srgbClr val="C00000"/>
                </a:solidFill>
              </a:rPr>
              <a:t>Dr. Seema Gaur</a:t>
            </a:r>
          </a:p>
          <a:p>
            <a:r>
              <a:rPr lang="en-IN" sz="2000" b="1" dirty="0">
                <a:solidFill>
                  <a:srgbClr val="C00000"/>
                </a:solidFill>
              </a:rPr>
              <a:t>Assistant Professor, CSE</a:t>
            </a:r>
            <a:br>
              <a:rPr lang="en-IN" sz="2000" b="1" dirty="0">
                <a:solidFill>
                  <a:srgbClr val="C00000"/>
                </a:solidFill>
              </a:rPr>
            </a:br>
            <a:r>
              <a:rPr lang="en-IN" sz="2000" b="1" dirty="0">
                <a:solidFill>
                  <a:srgbClr val="C00000"/>
                </a:solidFill>
              </a:rPr>
              <a:t>BIT Jaipur Off-Campus</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68306"/>
            <a:ext cx="6787747" cy="841787"/>
          </a:xfrm>
        </p:spPr>
        <p:txBody>
          <a:bodyPr/>
          <a:lstStyle/>
          <a:p>
            <a:r>
              <a:rPr lang="en-US" dirty="0"/>
              <a:t>Table of contents</a:t>
            </a:r>
            <a:endParaRPr lang="en-US" b="0" dirty="0"/>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4" y="1754372"/>
            <a:ext cx="6936079" cy="4599775"/>
          </a:xfrm>
        </p:spPr>
        <p:txBody>
          <a:bodyPr tIns="457200">
            <a:normAutofit/>
          </a:bodyPr>
          <a:lstStyle/>
          <a:p>
            <a:r>
              <a:rPr lang="en-US" dirty="0">
                <a:solidFill>
                  <a:srgbClr val="002060"/>
                </a:solidFill>
              </a:rPr>
              <a:t>Introduction</a:t>
            </a:r>
          </a:p>
          <a:p>
            <a:r>
              <a:rPr lang="en-US" dirty="0">
                <a:solidFill>
                  <a:srgbClr val="002060"/>
                </a:solidFill>
              </a:rPr>
              <a:t>Problem Statement / List of Objectives</a:t>
            </a:r>
          </a:p>
          <a:p>
            <a:r>
              <a:rPr lang="en-US" dirty="0">
                <a:solidFill>
                  <a:srgbClr val="002060"/>
                </a:solidFill>
              </a:rPr>
              <a:t>Dataset description</a:t>
            </a:r>
          </a:p>
          <a:p>
            <a:r>
              <a:rPr lang="en-US" dirty="0">
                <a:solidFill>
                  <a:srgbClr val="002060"/>
                </a:solidFill>
              </a:rPr>
              <a:t>Design and Methodology</a:t>
            </a:r>
          </a:p>
          <a:p>
            <a:r>
              <a:rPr lang="en-US" dirty="0">
                <a:solidFill>
                  <a:srgbClr val="002060"/>
                </a:solidFill>
              </a:rPr>
              <a:t>Research Contributions</a:t>
            </a:r>
          </a:p>
          <a:p>
            <a:r>
              <a:rPr lang="en-US" dirty="0">
                <a:solidFill>
                  <a:srgbClr val="002060"/>
                </a:solidFill>
              </a:rPr>
              <a:t>Conclusions</a:t>
            </a:r>
          </a:p>
          <a:p>
            <a:r>
              <a:rPr lang="en-US" dirty="0">
                <a:solidFill>
                  <a:srgbClr val="002060"/>
                </a:solidFill>
              </a:rPr>
              <a:t>References</a:t>
            </a:r>
          </a:p>
          <a:p>
            <a:endParaRPr lang="en-US" dirty="0">
              <a:solidFill>
                <a:srgbClr val="002060"/>
              </a:solidFill>
            </a:endParaRPr>
          </a:p>
        </p:txBody>
      </p:sp>
      <p:pic>
        <p:nvPicPr>
          <p:cNvPr id="5" name="Picture 4">
            <a:extLst>
              <a:ext uri="{FF2B5EF4-FFF2-40B4-BE49-F238E27FC236}">
                <a16:creationId xmlns:a16="http://schemas.microsoft.com/office/drawing/2014/main" id="{3D843007-F90D-7112-537E-83FCCEF492C4}"/>
              </a:ext>
            </a:extLst>
          </p:cNvPr>
          <p:cNvPicPr>
            <a:picLocks noChangeAspect="1"/>
          </p:cNvPicPr>
          <p:nvPr/>
        </p:nvPicPr>
        <p:blipFill>
          <a:blip r:embed="rId3"/>
          <a:stretch>
            <a:fillRect/>
          </a:stretch>
        </p:blipFill>
        <p:spPr>
          <a:xfrm>
            <a:off x="6096000" y="-54640"/>
            <a:ext cx="6095999" cy="3429000"/>
          </a:xfrm>
          <a:prstGeom prst="rect">
            <a:avLst/>
          </a:prstGeom>
        </p:spPr>
      </p:pic>
      <p:pic>
        <p:nvPicPr>
          <p:cNvPr id="7" name="Picture 6">
            <a:extLst>
              <a:ext uri="{FF2B5EF4-FFF2-40B4-BE49-F238E27FC236}">
                <a16:creationId xmlns:a16="http://schemas.microsoft.com/office/drawing/2014/main" id="{89F84D63-AE73-3521-E115-17962E421A14}"/>
              </a:ext>
            </a:extLst>
          </p:cNvPr>
          <p:cNvPicPr>
            <a:picLocks noChangeAspect="1"/>
          </p:cNvPicPr>
          <p:nvPr/>
        </p:nvPicPr>
        <p:blipFill>
          <a:blip r:embed="rId4"/>
          <a:stretch>
            <a:fillRect/>
          </a:stretch>
        </p:blipFill>
        <p:spPr>
          <a:xfrm>
            <a:off x="6096000" y="3374360"/>
            <a:ext cx="6095999" cy="3551451"/>
          </a:xfrm>
          <a:prstGeom prst="rect">
            <a:avLst/>
          </a:prstGeom>
        </p:spPr>
      </p:pic>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616687" y="-416774"/>
            <a:ext cx="10649393" cy="1433223"/>
          </a:xfrm>
        </p:spPr>
        <p:txBody>
          <a:bodyPr/>
          <a:lstStyle/>
          <a:p>
            <a:r>
              <a:rPr lang="en-US" b="0" dirty="0"/>
              <a:t>Introduction</a:t>
            </a:r>
          </a:p>
        </p:txBody>
      </p:sp>
      <p:sp>
        <p:nvSpPr>
          <p:cNvPr id="30" name="Text Placeholder 29"/>
          <p:cNvSpPr>
            <a:spLocks noGrp="1"/>
          </p:cNvSpPr>
          <p:nvPr>
            <p:ph sz="quarter" idx="13"/>
          </p:nvPr>
        </p:nvSpPr>
        <p:spPr>
          <a:xfrm>
            <a:off x="1087120" y="1518593"/>
            <a:ext cx="10380980" cy="4830148"/>
          </a:xfrm>
        </p:spPr>
        <p:txBody>
          <a:bodyPr lIns="0" tIns="228600" rIns="0" bIns="0">
            <a:normAutofit fontScale="95000"/>
          </a:bodyPr>
          <a:lstStyle/>
          <a:p>
            <a:r>
              <a:rPr lang="en-US" sz="2200" b="0" dirty="0"/>
              <a:t>Planning a multi-stop tourist itinerary in a city like Jaipur is a genuinely hard combinatorial problem, requiring attractions to be chosen and sequenced within opening/closing hours and real travel times</a:t>
            </a:r>
          </a:p>
          <a:p>
            <a:r>
              <a:rPr lang="en-US" sz="2200" b="0" dirty="0"/>
              <a:t>Existing tools (Wanderlog, TripIt, LLM-based generators) rely on a language model to produce a "plausible-looking" plan, which often violates hard constraints such as time windows</a:t>
            </a:r>
          </a:p>
          <a:p>
            <a:r>
              <a:rPr lang="en-US" sz="2200" b="0" dirty="0"/>
              <a:t>For groups, conflicting member preferences are usually ignored or left to dominate silently, with no transparency in the trade-off</a:t>
            </a:r>
          </a:p>
          <a:p>
            <a:r>
              <a:rPr lang="en-US" sz="2200" b="0" dirty="0"/>
              <a:t>TripSolve grounds route generation in real optimization (TOPTW, solved via Google OR-Tools) instead of an LLM's guess, using the LLM only to parse free-text input and explain the solver's choices — and to fairly combine multiple travelers' preferences into one shared route</a:t>
            </a:r>
          </a:p>
        </p:txBody>
      </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160000"/>
            <a:ext cx="10761212" cy="1150000"/>
          </a:xfrm>
        </p:spPr>
        <p:txBody>
          <a:bodyPr anchor="t">
            <a:noAutofit/>
          </a:bodyPr>
          <a:lstStyle/>
          <a:p>
            <a:r>
              <a:rPr lang="en-US" sz="3200" b="0" dirty="0"/>
              <a:t>Problem Statement / List of Objectives</a:t>
            </a:r>
          </a:p>
        </p:txBody>
      </p:sp>
      <p:sp>
        <p:nvSpPr>
          <p:cNvPr id="10" name="Text Placeholder 9"/>
          <p:cNvSpPr>
            <a:spLocks noGrp="1"/>
          </p:cNvSpPr>
          <p:nvPr>
            <p:ph sz="quarter" idx="15"/>
          </p:nvPr>
        </p:nvSpPr>
        <p:spPr>
          <a:xfrm>
            <a:off x="594360" y="1630264"/>
            <a:ext cx="4912360" cy="4028855"/>
          </a:xfrm>
        </p:spPr>
        <p:txBody>
          <a:bodyPr>
            <a:normAutofit/>
          </a:bodyPr>
          <a:lstStyle/>
          <a:p>
            <a:r>
              <a:rPr lang="en-US" sz="2400" b="1" dirty="0">
                <a:solidFill>
                  <a:srgbClr val="002060"/>
                </a:solidFill>
              </a:rPr>
              <a:t>Problem Statement</a:t>
            </a:r>
          </a:p>
          <a:p>
            <a:pPr marL="342900" indent="-342900">
              <a:buFont typeface="Arial" panose="020B0604020202020204" pitchFamily="34" charset="0"/>
              <a:buChar char="•"/>
            </a:pPr>
            <a:r>
              <a:rPr lang="en-US" dirty="0"/>
              <a:t>Attraction choice/ordering must respect each site's opening/closing time window</a:t>
            </a:r>
          </a:p>
          <a:p>
            <a:pPr marL="342900" indent="-342900">
              <a:buFont typeface="Arial" panose="020B0604020202020204" pitchFamily="34" charset="0"/>
              <a:buChar char="•"/>
            </a:pPr>
            <a:r>
              <a:rPr lang="en-US" dirty="0"/>
              <a:t>Real road-network travel time between stops, not straight-line distance</a:t>
            </a:r>
          </a:p>
          <a:p>
            <a:pPr marL="342900" indent="-342900">
              <a:buFont typeface="Arial" panose="020B0604020202020204" pitchFamily="34" charset="0"/>
              <a:buChar char="•"/>
            </a:pPr>
            <a:r>
              <a:rPr lang="en-US" dirty="0"/>
              <a:t>Conflicting interests/priorities of different group members</a:t>
            </a:r>
          </a:p>
          <a:p>
            <a:pPr marL="342900" indent="-342900">
              <a:buFont typeface="Arial" panose="020B0604020202020204" pitchFamily="34" charset="0"/>
              <a:buChar char="•"/>
            </a:pPr>
            <a:r>
              <a:rPr lang="en-US" dirty="0"/>
              <a:t>Pure LLM-based planners (per the TravelPlanner benchmark, ICML 2024) frequently violate hard constraints</a:t>
            </a:r>
          </a:p>
        </p:txBody>
      </p:sp>
      <p:sp>
        <p:nvSpPr>
          <p:cNvPr id="11" name="Text Placeholder 10"/>
          <p:cNvSpPr>
            <a:spLocks noGrp="1"/>
          </p:cNvSpPr>
          <p:nvPr>
            <p:ph sz="quarter" idx="16"/>
          </p:nvPr>
        </p:nvSpPr>
        <p:spPr>
          <a:xfrm>
            <a:off x="5881898" y="1630264"/>
            <a:ext cx="4999462" cy="4028855"/>
          </a:xfrm>
        </p:spPr>
        <p:txBody>
          <a:bodyPr>
            <a:normAutofit fontScale="85000" lnSpcReduction="20000"/>
          </a:bodyPr>
          <a:lstStyle/>
          <a:p>
            <a:r>
              <a:rPr lang="en-US" sz="2800" b="1" dirty="0">
                <a:solidFill>
                  <a:srgbClr val="002060"/>
                </a:solidFill>
              </a:rPr>
              <a:t>List of Objectives</a:t>
            </a:r>
          </a:p>
          <a:p>
            <a:pPr marL="342900" indent="-342900">
              <a:buFont typeface="Arial" panose="020B0604020202020204" pitchFamily="34" charset="0"/>
              <a:buChar char="•"/>
            </a:pPr>
            <a:r>
              <a:rPr lang="en-US" sz="2400" dirty="0"/>
              <a:t>Ground itinerary generation in real optimization over real-world constraints, not an LLM's guess</a:t>
            </a:r>
          </a:p>
          <a:p>
            <a:pPr marL="342900" indent="-342900">
              <a:buFont typeface="Arial" panose="020B0604020202020204" pitchFamily="34" charset="0"/>
              <a:buChar char="•"/>
            </a:pPr>
            <a:r>
              <a:rPr lang="en-US" sz="2400" dirty="0"/>
              <a:t>Guarantee time-window feasibility for every visited attraction</a:t>
            </a:r>
          </a:p>
          <a:p>
            <a:pPr marL="342900" indent="-342900">
              <a:buFont typeface="Arial" panose="020B0604020202020204" pitchFamily="34" charset="0"/>
              <a:buChar char="•"/>
            </a:pPr>
            <a:r>
              <a:rPr lang="en-US" sz="2400" dirty="0"/>
              <a:t>Fairly balance multiple travelers' preferences into one shared route</a:t>
            </a:r>
          </a:p>
          <a:p>
            <a:pPr marL="342900" indent="-342900">
              <a:buFont typeface="Arial" panose="020B0604020202020204" pitchFamily="34" charset="0"/>
              <a:buChar char="•"/>
            </a:pPr>
            <a:r>
              <a:rPr lang="en-US" sz="2400" dirty="0"/>
              <a:t>Make the reasoning behind the chosen route transparent and explainable to users</a:t>
            </a:r>
          </a:p>
          <a:p>
            <a:pPr marL="342900" indent="-342900">
              <a:buFont typeface="Arial" panose="020B0604020202020204" pitchFamily="34" charset="0"/>
              <a:buChar char="•"/>
            </a:pPr>
            <a:r>
              <a:rPr lang="en-US" sz="2400" dirty="0"/>
              <a:t>Build a modular, city-agnostic backend that can extend beyond Jaipur</a:t>
            </a:r>
          </a:p>
        </p:txBody>
      </p:sp>
    </p:spTree>
    <p:extLst>
      <p:ext uri="{BB962C8B-B14F-4D97-AF65-F5344CB8AC3E}">
        <p14:creationId xmlns:p14="http://schemas.microsoft.com/office/powerpoint/2010/main" val="888484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256032"/>
            <a:ext cx="10972800" cy="960120"/>
          </a:xfrm>
        </p:spPr>
        <p:txBody>
          <a:bodyPr/>
          <a:lstStyle/>
          <a:p>
            <a:r>
              <a:rPr sz="2800">
                <a:latin typeface="Franklin Gothic Demi"/>
              </a:rPr>
              <a:t>How TripSolve Solves It — TOPTW at a Glance</a:t>
            </a:r>
          </a:p>
        </p:txBody>
      </p:sp>
      <p:sp>
        <p:nvSpPr>
          <p:cNvPr id="3" name="Rounded Rectangle 2"/>
          <p:cNvSpPr/>
          <p:nvPr/>
        </p:nvSpPr>
        <p:spPr>
          <a:xfrm>
            <a:off x="792327" y="1691640"/>
            <a:ext cx="3200400" cy="3429000"/>
          </a:xfrm>
          <a:prstGeom prst="roundRect">
            <a:avLst/>
          </a:prstGeom>
          <a:solidFill>
            <a:srgbClr val="FFFFFF"/>
          </a:solidFill>
          <a:ln w="25400">
            <a:solidFill>
              <a:srgbClr val="6F9A4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500" b="1" dirty="0">
                <a:solidFill>
                  <a:srgbClr val="6F9A46"/>
                </a:solidFill>
                <a:latin typeface="Franklin Gothic Book"/>
              </a:rPr>
              <a:t>INPUTS</a:t>
            </a:r>
          </a:p>
          <a:p>
            <a:pPr algn="l">
              <a:lnSpc>
                <a:spcPct val="100000"/>
              </a:lnSpc>
              <a:spcBef>
                <a:spcPts val="1000"/>
              </a:spcBef>
            </a:pPr>
            <a:r>
              <a:rPr sz="1250" b="0" dirty="0">
                <a:solidFill>
                  <a:srgbClr val="2B2B2B"/>
                </a:solidFill>
                <a:latin typeface="Franklin Gothic Book"/>
              </a:rPr>
              <a:t>Time budget &amp; start location</a:t>
            </a:r>
          </a:p>
          <a:p>
            <a:pPr algn="l">
              <a:lnSpc>
                <a:spcPct val="100000"/>
              </a:lnSpc>
              <a:spcBef>
                <a:spcPts val="1000"/>
              </a:spcBef>
            </a:pPr>
            <a:r>
              <a:rPr sz="1250" b="0" dirty="0">
                <a:solidFill>
                  <a:srgbClr val="2B2B2B"/>
                </a:solidFill>
                <a:latin typeface="Franklin Gothic Book"/>
              </a:rPr>
              <a:t>Interests / must-visit POIs</a:t>
            </a:r>
          </a:p>
          <a:p>
            <a:pPr algn="l">
              <a:lnSpc>
                <a:spcPct val="100000"/>
              </a:lnSpc>
              <a:spcBef>
                <a:spcPts val="1000"/>
              </a:spcBef>
            </a:pPr>
            <a:r>
              <a:rPr sz="1250" b="0" dirty="0">
                <a:solidFill>
                  <a:srgbClr val="2B2B2B"/>
                </a:solidFill>
                <a:latin typeface="Franklin Gothic Book"/>
              </a:rPr>
              <a:t>Opening &amp; closing time windows</a:t>
            </a:r>
          </a:p>
          <a:p>
            <a:pPr algn="l">
              <a:lnSpc>
                <a:spcPct val="100000"/>
              </a:lnSpc>
              <a:spcBef>
                <a:spcPts val="1000"/>
              </a:spcBef>
            </a:pPr>
            <a:r>
              <a:rPr sz="1250" b="0" dirty="0">
                <a:solidFill>
                  <a:srgbClr val="2B2B2B"/>
                </a:solidFill>
                <a:latin typeface="Franklin Gothic Book"/>
              </a:rPr>
              <a:t>Travel times between stops</a:t>
            </a:r>
          </a:p>
        </p:txBody>
      </p:sp>
      <p:sp>
        <p:nvSpPr>
          <p:cNvPr id="4" name="Right Arrow 3"/>
          <p:cNvSpPr/>
          <p:nvPr/>
        </p:nvSpPr>
        <p:spPr>
          <a:xfrm>
            <a:off x="4038447" y="3204972"/>
            <a:ext cx="411480" cy="402336"/>
          </a:xfrm>
          <a:prstGeom prst="righ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495647" y="1691640"/>
            <a:ext cx="3200400" cy="3429000"/>
          </a:xfrm>
          <a:prstGeom prst="roundRect">
            <a:avLst/>
          </a:prstGeom>
          <a:solidFill>
            <a:srgbClr val="D9A81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spcBef>
                <a:spcPts val="600"/>
              </a:spcBef>
            </a:pPr>
            <a:r>
              <a:rPr sz="1500" b="1">
                <a:solidFill>
                  <a:srgbClr val="FFFFFF"/>
                </a:solidFill>
                <a:latin typeface="Franklin Gothic Book"/>
              </a:rPr>
              <a:t>OR-TOOLS</a:t>
            </a:r>
          </a:p>
          <a:p>
            <a:pPr algn="ctr">
              <a:lnSpc>
                <a:spcPct val="100000"/>
              </a:lnSpc>
              <a:spcBef>
                <a:spcPts val="600"/>
              </a:spcBef>
            </a:pPr>
            <a:r>
              <a:rPr sz="1300" b="1">
                <a:solidFill>
                  <a:srgbClr val="FFFFFF"/>
                </a:solidFill>
                <a:latin typeface="Franklin Gothic Book"/>
              </a:rPr>
              <a:t>Team Orienteering Problem</a:t>
            </a:r>
          </a:p>
          <a:p>
            <a:pPr algn="ctr">
              <a:lnSpc>
                <a:spcPct val="100000"/>
              </a:lnSpc>
              <a:spcBef>
                <a:spcPts val="600"/>
              </a:spcBef>
            </a:pPr>
            <a:r>
              <a:rPr sz="1300" b="1">
                <a:solidFill>
                  <a:srgbClr val="FFFFFF"/>
                </a:solidFill>
                <a:latin typeface="Franklin Gothic Book"/>
              </a:rPr>
              <a:t>with Time Windows (TOPTW)</a:t>
            </a:r>
          </a:p>
          <a:p>
            <a:pPr algn="ctr">
              <a:lnSpc>
                <a:spcPct val="100000"/>
              </a:lnSpc>
              <a:spcBef>
                <a:spcPts val="600"/>
              </a:spcBef>
            </a:pPr>
            <a:r>
              <a:rPr sz="1200" b="0">
                <a:solidFill>
                  <a:srgbClr val="FFFFFF"/>
                </a:solidFill>
                <a:latin typeface="Franklin Gothic Book"/>
              </a:rPr>
              <a:t>Maximizes visitor utility</a:t>
            </a:r>
          </a:p>
          <a:p>
            <a:pPr algn="ctr">
              <a:lnSpc>
                <a:spcPct val="100000"/>
              </a:lnSpc>
              <a:spcBef>
                <a:spcPts val="600"/>
              </a:spcBef>
            </a:pPr>
            <a:r>
              <a:rPr sz="1200" b="0">
                <a:solidFill>
                  <a:srgbClr val="FFFFFF"/>
                </a:solidFill>
                <a:latin typeface="Franklin Gothic Book"/>
              </a:rPr>
              <a:t>subject to: time windows, travel</a:t>
            </a:r>
          </a:p>
          <a:p>
            <a:pPr algn="ctr">
              <a:lnSpc>
                <a:spcPct val="100000"/>
              </a:lnSpc>
              <a:spcBef>
                <a:spcPts val="600"/>
              </a:spcBef>
            </a:pPr>
            <a:r>
              <a:rPr sz="1200" b="0">
                <a:solidFill>
                  <a:srgbClr val="FFFFFF"/>
                </a:solidFill>
                <a:latin typeface="Franklin Gothic Book"/>
              </a:rPr>
              <a:t>times, and total time budget</a:t>
            </a:r>
          </a:p>
        </p:txBody>
      </p:sp>
      <p:sp>
        <p:nvSpPr>
          <p:cNvPr id="6" name="Right Arrow 5"/>
          <p:cNvSpPr/>
          <p:nvPr/>
        </p:nvSpPr>
        <p:spPr>
          <a:xfrm>
            <a:off x="7741767" y="3204972"/>
            <a:ext cx="411480" cy="402336"/>
          </a:xfrm>
          <a:prstGeom prst="righ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198967" y="1691640"/>
            <a:ext cx="3200400" cy="3429000"/>
          </a:xfrm>
          <a:prstGeom prst="roundRect">
            <a:avLst/>
          </a:prstGeom>
          <a:solidFill>
            <a:srgbClr val="FFFFFF"/>
          </a:solidFill>
          <a:ln w="25400">
            <a:solidFill>
              <a:srgbClr val="3E859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lnSpc>
                <a:spcPct val="100000"/>
              </a:lnSpc>
            </a:pPr>
            <a:r>
              <a:rPr sz="1500" b="1">
                <a:solidFill>
                  <a:srgbClr val="3E8592"/>
                </a:solidFill>
                <a:latin typeface="Franklin Gothic Book"/>
              </a:rPr>
              <a:t>OUTPUT</a:t>
            </a:r>
          </a:p>
          <a:p>
            <a:pPr algn="ctr">
              <a:lnSpc>
                <a:spcPct val="100000"/>
              </a:lnSpc>
              <a:spcBef>
                <a:spcPts val="1000"/>
              </a:spcBef>
            </a:pPr>
            <a:r>
              <a:rPr sz="1250" b="0">
                <a:solidFill>
                  <a:srgbClr val="2B2B2B"/>
                </a:solidFill>
                <a:latin typeface="Franklin Gothic Book"/>
              </a:rPr>
              <a:t>A single, near-optimal route</a:t>
            </a:r>
          </a:p>
          <a:p>
            <a:pPr algn="ctr">
              <a:lnSpc>
                <a:spcPct val="100000"/>
              </a:lnSpc>
              <a:spcBef>
                <a:spcPts val="1000"/>
              </a:spcBef>
            </a:pPr>
            <a:r>
              <a:rPr sz="1250" b="0">
                <a:solidFill>
                  <a:srgbClr val="2B2B2B"/>
                </a:solidFill>
                <a:latin typeface="Franklin Gothic Book"/>
              </a:rPr>
              <a:t>Every stop inside its time window</a:t>
            </a:r>
          </a:p>
          <a:p>
            <a:pPr algn="ctr">
              <a:lnSpc>
                <a:spcPct val="100000"/>
              </a:lnSpc>
              <a:spcBef>
                <a:spcPts val="1000"/>
              </a:spcBef>
            </a:pPr>
            <a:r>
              <a:rPr sz="1250" b="0">
                <a:solidFill>
                  <a:srgbClr val="2B2B2B"/>
                </a:solidFill>
                <a:latin typeface="Franklin Gothic Book"/>
              </a:rPr>
              <a:t>Explained in plain language</a:t>
            </a:r>
          </a:p>
          <a:p>
            <a:pPr algn="ctr">
              <a:lnSpc>
                <a:spcPct val="100000"/>
              </a:lnSpc>
              <a:spcBef>
                <a:spcPts val="1000"/>
              </a:spcBef>
            </a:pPr>
            <a:r>
              <a:rPr sz="1250" b="0">
                <a:solidFill>
                  <a:srgbClr val="2B2B2B"/>
                </a:solidFill>
                <a:latin typeface="Franklin Gothic Book"/>
              </a:rPr>
              <a:t>by the LLM layer</a:t>
            </a:r>
          </a:p>
        </p:txBody>
      </p:sp>
      <p:sp>
        <p:nvSpPr>
          <p:cNvPr id="8" name="TextBox 7"/>
          <p:cNvSpPr txBox="1"/>
          <p:nvPr/>
        </p:nvSpPr>
        <p:spPr>
          <a:xfrm>
            <a:off x="792327" y="5349240"/>
            <a:ext cx="10607040" cy="548640"/>
          </a:xfrm>
          <a:prstGeom prst="rect">
            <a:avLst/>
          </a:prstGeom>
          <a:noFill/>
        </p:spPr>
        <p:txBody>
          <a:bodyPr wrap="square" lIns="45720" tIns="27432" rIns="45720" bIns="27432" anchor="ctr">
            <a:spAutoFit/>
          </a:bodyPr>
          <a:lstStyle/>
          <a:p>
            <a:pPr algn="ctr">
              <a:lnSpc>
                <a:spcPct val="100000"/>
              </a:lnSpc>
            </a:pPr>
            <a:r>
              <a:rPr sz="1300" b="0">
                <a:solidFill>
                  <a:srgbClr val="6B6B6B"/>
                </a:solidFill>
                <a:latin typeface="Franklin Gothic Book"/>
              </a:rPr>
              <a:t>The LLM only parses free text and explains results — it never decides the route.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58201-4A08-6D7B-A537-F83254B369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FBC04C-37CD-964A-D3EC-61705219371F}"/>
              </a:ext>
            </a:extLst>
          </p:cNvPr>
          <p:cNvSpPr>
            <a:spLocks noGrp="1"/>
          </p:cNvSpPr>
          <p:nvPr>
            <p:ph type="title"/>
          </p:nvPr>
        </p:nvSpPr>
        <p:spPr>
          <a:xfrm>
            <a:off x="616687" y="373224"/>
            <a:ext cx="10649393" cy="643225"/>
          </a:xfrm>
        </p:spPr>
        <p:txBody>
          <a:bodyPr/>
          <a:lstStyle/>
          <a:p>
            <a:r>
              <a:rPr lang="en-US" b="0" dirty="0"/>
              <a:t>Dataset Description</a:t>
            </a:r>
          </a:p>
        </p:txBody>
      </p:sp>
      <p:sp>
        <p:nvSpPr>
          <p:cNvPr id="30" name="Text Placeholder 29"/>
          <p:cNvSpPr>
            <a:spLocks noGrp="1"/>
          </p:cNvSpPr>
          <p:nvPr>
            <p:ph sz="quarter" idx="13"/>
          </p:nvPr>
        </p:nvSpPr>
        <p:spPr/>
        <p:txBody>
          <a:bodyPr>
            <a:normAutofit/>
          </a:bodyPr>
          <a:lstStyle/>
          <a:p>
            <a:r>
              <a:rPr lang="en-US" sz="2000" b="0" dirty="0"/>
              <a:t>Seeded database of Jaipur Points of Interest (POIs): monuments, markets and eateries, each with geolocation, opening/closing time window, average visit duration, and category tags</a:t>
            </a:r>
          </a:p>
          <a:p>
            <a:r>
              <a:rPr lang="en-US" sz="2000" b="0" dirty="0"/>
              <a:t>Attraction data stored in PostgreSQL with the PostGIS extension for spatial queries</a:t>
            </a:r>
          </a:p>
          <a:p>
            <a:r>
              <a:rPr lang="en-US" sz="2000" b="0" dirty="0"/>
              <a:t>Road-network data sourced from OpenStreetMap, geocoded via Nominatim</a:t>
            </a:r>
          </a:p>
          <a:p>
            <a:r>
              <a:rPr lang="en-US" sz="2000" b="0" dirty="0"/>
              <a:t>Realistic travel-time matrices between POIs computed via a self-hosted OSRM instance loaded with the Jaipur road-network extract</a:t>
            </a:r>
          </a:p>
          <a:p>
            <a:r>
              <a:rPr lang="en-US" sz="2000" b="0" dirty="0"/>
              <a:t>Exact POI count to be finalized after the data-collection phase; backend schema is designed to be city-agnostic</a:t>
            </a:r>
          </a:p>
        </p:txBody>
      </p:sp>
      <p:grpSp>
        <p:nvGrpSpPr>
          <p:cNvPr id="19" name="Group 18">
            <a:extLst>
              <a:ext uri="{FF2B5EF4-FFF2-40B4-BE49-F238E27FC236}">
                <a16:creationId xmlns:a16="http://schemas.microsoft.com/office/drawing/2014/main" id="{0B478355-06E0-4887-4D45-1FC15D6954DB}"/>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8A0D63AB-F609-225F-16E0-C818297CD99C}"/>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209D0F3B-EB65-6983-7B28-63A58E5380C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EA64B84B-B940-F62D-0D03-BC08A384208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3153326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D10C2-E528-F8AA-26C0-F3FBCDC5ADA7}"/>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8BA67765-B6B0-1BE8-0DA0-3A4DDC53F69B}"/>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CDE57A11-15EA-0334-FC70-F0E2EE7EBBCF}"/>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D7124030-8D50-EC34-633A-E057633ADB48}"/>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20B3FA21-0D4C-8E23-0C1F-F27AE03B61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 name="Title 2">
            <a:extLst>
              <a:ext uri="{FF2B5EF4-FFF2-40B4-BE49-F238E27FC236}">
                <a16:creationId xmlns:a16="http://schemas.microsoft.com/office/drawing/2014/main" id="{D836AA98-D688-5397-DDE9-9221677DBDE7}"/>
              </a:ext>
            </a:extLst>
          </p:cNvPr>
          <p:cNvSpPr>
            <a:spLocks noGrp="1"/>
          </p:cNvSpPr>
          <p:nvPr>
            <p:ph type="title"/>
          </p:nvPr>
        </p:nvSpPr>
        <p:spPr>
          <a:xfrm>
            <a:off x="616687" y="373224"/>
            <a:ext cx="10649393" cy="643225"/>
          </a:xfrm>
        </p:spPr>
        <p:txBody>
          <a:bodyPr/>
          <a:lstStyle/>
          <a:p>
            <a:r>
              <a:rPr lang="en-US" b="0" dirty="0"/>
              <a:t>Design and Methodology</a:t>
            </a:r>
          </a:p>
        </p:txBody>
      </p:sp>
      <p:sp>
        <p:nvSpPr>
          <p:cNvPr id="7" name="Text Placeholder 6">
            <a:extLst>
              <a:ext uri="{FF2B5EF4-FFF2-40B4-BE49-F238E27FC236}">
                <a16:creationId xmlns:a16="http://schemas.microsoft.com/office/drawing/2014/main" id="{06002F35-70E9-3DA8-1F59-C42D04248101}"/>
              </a:ext>
            </a:extLst>
          </p:cNvPr>
          <p:cNvSpPr>
            <a:spLocks noGrp="1"/>
          </p:cNvSpPr>
          <p:nvPr>
            <p:ph sz="quarter" idx="13"/>
          </p:nvPr>
        </p:nvSpPr>
        <p:spPr>
          <a:xfrm>
            <a:off x="1520456" y="1552353"/>
            <a:ext cx="9947644" cy="4429347"/>
          </a:xfrm>
        </p:spPr>
        <p:txBody>
          <a:bodyPr>
            <a:normAutofit lnSpcReduction="10000"/>
          </a:bodyPr>
          <a:lstStyle/>
          <a:p>
            <a:pPr marL="0" indent="0">
              <a:buNone/>
            </a:pPr>
            <a:r>
              <a:rPr lang="en-US" b="1" dirty="0">
                <a:solidFill>
                  <a:srgbClr val="002060"/>
                </a:solidFill>
              </a:rPr>
              <a:t>Methods / Techniques / Algorithms</a:t>
            </a:r>
          </a:p>
          <a:p>
            <a:r>
              <a:rPr lang="en-US" sz="2000" b="0" dirty="0"/>
              <a:t>Attraction selection and sequencing modeled as a Team Orienteering Problem with Time Windows (TOPTW), solved using Google OR-Tools</a:t>
            </a:r>
          </a:p>
          <a:p>
            <a:r>
              <a:rPr lang="en-US" sz="2000" b="0" dirty="0"/>
              <a:t>Group trips: individual preference scores combined into one shared multi-objective utility score per POI</a:t>
            </a:r>
          </a:p>
          <a:p>
            <a:r>
              <a:rPr lang="en-US" sz="2000" b="0" dirty="0"/>
              <a:t>LLM (Llama 3.3) used only for parsing free-text input into structured preferences and generating plain-language explanations — never for routing decisions</a:t>
            </a:r>
          </a:p>
          <a:p>
            <a:pPr marL="0" indent="0">
              <a:buNone/>
            </a:pPr>
            <a:r>
              <a:rPr lang="en-US" b="1" dirty="0">
                <a:solidFill>
                  <a:srgbClr val="002060"/>
                </a:solidFill>
              </a:rPr>
              <a:t>Architecture Diagrams</a:t>
            </a:r>
          </a:p>
          <a:p>
            <a:r>
              <a:rPr lang="en-US" sz="2000" b="0" dirty="0"/>
              <a:t>Layered architecture: Next.js + Leaflet.js (presentation) → FastAPI (API) → OR-Tools optimization layer → LLM client (parsing/explanation) → PostgreSQL/PostGIS (data), with OSRM and Nominatim as external services</a:t>
            </a:r>
          </a:p>
          <a:p>
            <a:endParaRPr lang="en-US" sz="1600" dirty="0"/>
          </a:p>
        </p:txBody>
      </p:sp>
    </p:spTree>
    <p:extLst>
      <p:ext uri="{BB962C8B-B14F-4D97-AF65-F5344CB8AC3E}">
        <p14:creationId xmlns:p14="http://schemas.microsoft.com/office/powerpoint/2010/main" val="162817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256032"/>
            <a:ext cx="10972800" cy="960120"/>
          </a:xfrm>
        </p:spPr>
        <p:txBody>
          <a:bodyPr/>
          <a:lstStyle/>
          <a:p>
            <a:r>
              <a:rPr sz="2800">
                <a:latin typeface="Franklin Gothic Demi"/>
              </a:rPr>
              <a:t>System Architecture</a:t>
            </a:r>
          </a:p>
        </p:txBody>
      </p:sp>
      <p:sp>
        <p:nvSpPr>
          <p:cNvPr id="3" name="Rounded Rectangle 2"/>
          <p:cNvSpPr/>
          <p:nvPr/>
        </p:nvSpPr>
        <p:spPr>
          <a:xfrm>
            <a:off x="548640" y="1508760"/>
            <a:ext cx="7452360" cy="713232"/>
          </a:xfrm>
          <a:prstGeom prst="roundRect">
            <a:avLst/>
          </a:prstGeom>
          <a:solidFill>
            <a:srgbClr val="6F9A46"/>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1400" b="1">
                <a:solidFill>
                  <a:srgbClr val="FFFFFF"/>
                </a:solidFill>
                <a:latin typeface="Franklin Gothic Demi"/>
              </a:rPr>
              <a:t>Presentation Layer</a:t>
            </a:r>
          </a:p>
          <a:p>
            <a:pPr algn="l"/>
            <a:r>
              <a:rPr sz="1100">
                <a:solidFill>
                  <a:srgbClr val="FFFFFF"/>
                </a:solidFill>
                <a:latin typeface="Franklin Gothic Book"/>
              </a:rPr>
              <a:t>Next.js + Leaflet.js — trip forms, interactive map, explanations</a:t>
            </a:r>
          </a:p>
        </p:txBody>
      </p:sp>
      <p:sp>
        <p:nvSpPr>
          <p:cNvPr id="4" name="Down Arrow 3"/>
          <p:cNvSpPr/>
          <p:nvPr/>
        </p:nvSpPr>
        <p:spPr>
          <a:xfrm>
            <a:off x="4155948" y="2240279"/>
            <a:ext cx="237744" cy="164592"/>
          </a:xfrm>
          <a:prstGeom prst="down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2423160"/>
            <a:ext cx="7452360" cy="713232"/>
          </a:xfrm>
          <a:prstGeom prst="roundRect">
            <a:avLst/>
          </a:prstGeom>
          <a:solidFill>
            <a:srgbClr val="3E8592"/>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1400" b="1">
                <a:solidFill>
                  <a:srgbClr val="FFFFFF"/>
                </a:solidFill>
                <a:latin typeface="Franklin Gothic Demi"/>
              </a:rPr>
              <a:t>API Layer</a:t>
            </a:r>
          </a:p>
          <a:p>
            <a:pPr algn="l"/>
            <a:r>
              <a:rPr sz="1100">
                <a:solidFill>
                  <a:srgbClr val="FFFFFF"/>
                </a:solidFill>
                <a:latin typeface="Franklin Gothic Book"/>
              </a:rPr>
              <a:t>FastAPI — REST endpoints for trips, preferences, editing, auth</a:t>
            </a:r>
          </a:p>
        </p:txBody>
      </p:sp>
      <p:sp>
        <p:nvSpPr>
          <p:cNvPr id="6" name="Down Arrow 5"/>
          <p:cNvSpPr/>
          <p:nvPr/>
        </p:nvSpPr>
        <p:spPr>
          <a:xfrm>
            <a:off x="4155948" y="3154679"/>
            <a:ext cx="237744" cy="164592"/>
          </a:xfrm>
          <a:prstGeom prst="down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3337560"/>
            <a:ext cx="7452360" cy="713232"/>
          </a:xfrm>
          <a:prstGeom prst="roundRect">
            <a:avLst/>
          </a:prstGeom>
          <a:solidFill>
            <a:srgbClr val="D9A81C"/>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1400" b="1">
                <a:solidFill>
                  <a:srgbClr val="FFFFFF"/>
                </a:solidFill>
                <a:latin typeface="Franklin Gothic Demi"/>
              </a:rPr>
              <a:t>Optimization Layer</a:t>
            </a:r>
          </a:p>
          <a:p>
            <a:pPr algn="l"/>
            <a:r>
              <a:rPr sz="1100">
                <a:solidFill>
                  <a:srgbClr val="FFFFFF"/>
                </a:solidFill>
                <a:latin typeface="Franklin Gothic Book"/>
              </a:rPr>
              <a:t>Google OR-Tools — builds &amp; solves the TOPTW model</a:t>
            </a:r>
          </a:p>
        </p:txBody>
      </p:sp>
      <p:sp>
        <p:nvSpPr>
          <p:cNvPr id="8" name="Down Arrow 7"/>
          <p:cNvSpPr/>
          <p:nvPr/>
        </p:nvSpPr>
        <p:spPr>
          <a:xfrm>
            <a:off x="4155948" y="4069079"/>
            <a:ext cx="237744" cy="164592"/>
          </a:xfrm>
          <a:prstGeom prst="down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4251959"/>
            <a:ext cx="7452360" cy="713232"/>
          </a:xfrm>
          <a:prstGeom prst="roundRect">
            <a:avLst/>
          </a:prstGeom>
          <a:solidFill>
            <a:srgbClr val="D15A35"/>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1400" b="1">
                <a:solidFill>
                  <a:srgbClr val="FFFFFF"/>
                </a:solidFill>
                <a:latin typeface="Franklin Gothic Demi"/>
              </a:rPr>
              <a:t>AI Layer</a:t>
            </a:r>
          </a:p>
          <a:p>
            <a:pPr algn="l"/>
            <a:r>
              <a:rPr sz="1100">
                <a:solidFill>
                  <a:srgbClr val="FFFFFF"/>
                </a:solidFill>
                <a:latin typeface="Franklin Gothic Book"/>
              </a:rPr>
              <a:t>LLM client — free-text parsing &amp; explanation only, never routing</a:t>
            </a:r>
          </a:p>
        </p:txBody>
      </p:sp>
      <p:sp>
        <p:nvSpPr>
          <p:cNvPr id="10" name="Down Arrow 9"/>
          <p:cNvSpPr/>
          <p:nvPr/>
        </p:nvSpPr>
        <p:spPr>
          <a:xfrm>
            <a:off x="4155948" y="4983479"/>
            <a:ext cx="237744" cy="164592"/>
          </a:xfrm>
          <a:prstGeom prst="down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48640" y="5166359"/>
            <a:ext cx="7452360" cy="713232"/>
          </a:xfrm>
          <a:prstGeom prst="roundRect">
            <a:avLst/>
          </a:prstGeom>
          <a:solidFill>
            <a:srgbClr val="3E8592"/>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182880" rtlCol="0" anchor="ctr"/>
          <a:lstStyle/>
          <a:p>
            <a:pPr algn="l"/>
            <a:r>
              <a:rPr sz="1400" b="1">
                <a:solidFill>
                  <a:srgbClr val="FFFFFF"/>
                </a:solidFill>
                <a:latin typeface="Franklin Gothic Demi"/>
              </a:rPr>
              <a:t>Data Layer</a:t>
            </a:r>
          </a:p>
          <a:p>
            <a:pPr algn="l"/>
            <a:r>
              <a:rPr sz="1100">
                <a:solidFill>
                  <a:srgbClr val="FFFFFF"/>
                </a:solidFill>
                <a:latin typeface="Franklin Gothic Book"/>
              </a:rPr>
              <a:t>PostgreSQL + PostGIS — POIs, users, trips, preferences</a:t>
            </a:r>
          </a:p>
        </p:txBody>
      </p:sp>
      <p:sp>
        <p:nvSpPr>
          <p:cNvPr id="12" name="TextBox 11"/>
          <p:cNvSpPr txBox="1"/>
          <p:nvPr/>
        </p:nvSpPr>
        <p:spPr>
          <a:xfrm>
            <a:off x="8366760" y="1508760"/>
            <a:ext cx="3246120" cy="365760"/>
          </a:xfrm>
          <a:prstGeom prst="rect">
            <a:avLst/>
          </a:prstGeom>
          <a:noFill/>
        </p:spPr>
        <p:txBody>
          <a:bodyPr wrap="square" lIns="45720" tIns="27432" rIns="45720" bIns="27432" anchor="ctr">
            <a:spAutoFit/>
          </a:bodyPr>
          <a:lstStyle/>
          <a:p>
            <a:pPr algn="l">
              <a:lnSpc>
                <a:spcPct val="100000"/>
              </a:lnSpc>
            </a:pPr>
            <a:r>
              <a:rPr sz="1300" b="1">
                <a:solidFill>
                  <a:srgbClr val="2B2B2B"/>
                </a:solidFill>
                <a:latin typeface="Franklin Gothic Book"/>
              </a:rPr>
              <a:t>EXTERNAL SERVICES</a:t>
            </a:r>
          </a:p>
        </p:txBody>
      </p:sp>
      <p:sp>
        <p:nvSpPr>
          <p:cNvPr id="13" name="Rounded Rectangle 12"/>
          <p:cNvSpPr/>
          <p:nvPr/>
        </p:nvSpPr>
        <p:spPr>
          <a:xfrm>
            <a:off x="8366760" y="2011680"/>
            <a:ext cx="3246120" cy="1234440"/>
          </a:xfrm>
          <a:prstGeom prst="roundRect">
            <a:avLst/>
          </a:prstGeom>
          <a:solidFill>
            <a:srgbClr val="FFFFFF"/>
          </a:solidFill>
          <a:ln w="15875">
            <a:solidFill>
              <a:srgbClr val="6B6B6B"/>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300" b="1" dirty="0">
                <a:solidFill>
                  <a:srgbClr val="2B2B2B"/>
                </a:solidFill>
                <a:latin typeface="Franklin Gothic Demi"/>
              </a:rPr>
              <a:t>OSRM</a:t>
            </a:r>
          </a:p>
          <a:p>
            <a:pPr algn="l"/>
            <a:r>
              <a:rPr dirty="0">
                <a:solidFill>
                  <a:srgbClr val="6B6B6B"/>
                </a:solidFill>
                <a:latin typeface="Franklin Gothic Book"/>
              </a:rPr>
              <a:t>Real road-network travel times — feeds the API &amp; Optimization layers</a:t>
            </a:r>
          </a:p>
        </p:txBody>
      </p:sp>
      <p:sp>
        <p:nvSpPr>
          <p:cNvPr id="14" name="Rounded Rectangle 13"/>
          <p:cNvSpPr/>
          <p:nvPr/>
        </p:nvSpPr>
        <p:spPr>
          <a:xfrm>
            <a:off x="8366760" y="3410712"/>
            <a:ext cx="3246120" cy="1234440"/>
          </a:xfrm>
          <a:prstGeom prst="roundRect">
            <a:avLst/>
          </a:prstGeom>
          <a:solidFill>
            <a:srgbClr val="FFFFFF"/>
          </a:solidFill>
          <a:ln w="15875">
            <a:solidFill>
              <a:srgbClr val="6B6B6B"/>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300" b="1" dirty="0" err="1">
                <a:solidFill>
                  <a:srgbClr val="2B2B2B"/>
                </a:solidFill>
                <a:latin typeface="Franklin Gothic Demi"/>
              </a:rPr>
              <a:t>Nominatim</a:t>
            </a:r>
            <a:endParaRPr sz="1300" b="1" dirty="0">
              <a:solidFill>
                <a:srgbClr val="2B2B2B"/>
              </a:solidFill>
              <a:latin typeface="Franklin Gothic Demi"/>
            </a:endParaRPr>
          </a:p>
          <a:p>
            <a:pPr algn="l"/>
            <a:r>
              <a:rPr dirty="0">
                <a:solidFill>
                  <a:srgbClr val="6B6B6B"/>
                </a:solidFill>
                <a:latin typeface="Franklin Gothic Book"/>
              </a:rPr>
              <a:t>Geocoding free-text place names — feeds the Data layer</a:t>
            </a:r>
          </a:p>
        </p:txBody>
      </p:sp>
      <p:sp>
        <p:nvSpPr>
          <p:cNvPr id="15" name="Rounded Rectangle 14"/>
          <p:cNvSpPr/>
          <p:nvPr/>
        </p:nvSpPr>
        <p:spPr>
          <a:xfrm>
            <a:off x="8366760" y="4809744"/>
            <a:ext cx="3246120" cy="1234440"/>
          </a:xfrm>
          <a:prstGeom prst="roundRect">
            <a:avLst/>
          </a:prstGeom>
          <a:solidFill>
            <a:srgbClr val="FFFFFF"/>
          </a:solidFill>
          <a:ln w="15875">
            <a:solidFill>
              <a:srgbClr val="6B6B6B"/>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300" b="1" dirty="0">
                <a:solidFill>
                  <a:srgbClr val="2B2B2B"/>
                </a:solidFill>
                <a:latin typeface="Franklin Gothic Demi"/>
              </a:rPr>
              <a:t>LLM API (</a:t>
            </a:r>
            <a:r>
              <a:rPr sz="1300" b="1" dirty="0" err="1">
                <a:solidFill>
                  <a:srgbClr val="2B2B2B"/>
                </a:solidFill>
                <a:latin typeface="Franklin Gothic Demi"/>
              </a:rPr>
              <a:t>Groq</a:t>
            </a:r>
            <a:r>
              <a:rPr sz="1300" b="1" dirty="0">
                <a:solidFill>
                  <a:srgbClr val="2B2B2B"/>
                </a:solidFill>
                <a:latin typeface="Franklin Gothic Demi"/>
              </a:rPr>
              <a:t> / Llama 3.3)</a:t>
            </a:r>
          </a:p>
          <a:p>
            <a:pPr algn="l"/>
            <a:r>
              <a:rPr dirty="0">
                <a:solidFill>
                  <a:srgbClr val="6B6B6B"/>
                </a:solidFill>
                <a:latin typeface="Franklin Gothic Book"/>
              </a:rPr>
              <a:t>Parsing &amp; explanation — feeds the AI layer</a:t>
            </a:r>
          </a:p>
        </p:txBody>
      </p:sp>
      <p:sp>
        <p:nvSpPr>
          <p:cNvPr id="16" name="TextBox 15"/>
          <p:cNvSpPr txBox="1"/>
          <p:nvPr/>
        </p:nvSpPr>
        <p:spPr>
          <a:xfrm>
            <a:off x="3200400" y="6044183"/>
            <a:ext cx="4800600" cy="457200"/>
          </a:xfrm>
          <a:prstGeom prst="rect">
            <a:avLst/>
          </a:prstGeom>
          <a:noFill/>
        </p:spPr>
        <p:txBody>
          <a:bodyPr wrap="square" lIns="45720" tIns="27432" rIns="45720" bIns="27432" anchor="ctr">
            <a:spAutoFit/>
          </a:bodyPr>
          <a:lstStyle/>
          <a:p>
            <a:pPr algn="l">
              <a:lnSpc>
                <a:spcPct val="100000"/>
              </a:lnSpc>
            </a:pPr>
            <a:r>
              <a:rPr sz="1150" b="0">
                <a:solidFill>
                  <a:srgbClr val="6B6B6B"/>
                </a:solidFill>
                <a:latin typeface="Franklin Gothic Book"/>
              </a:rPr>
              <a:t>Layers are decoupled behind clear internal APIs, so any one component can be swapped independently.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256032"/>
            <a:ext cx="10972800" cy="960120"/>
          </a:xfrm>
        </p:spPr>
        <p:txBody>
          <a:bodyPr/>
          <a:lstStyle/>
          <a:p>
            <a:r>
              <a:rPr sz="2800">
                <a:latin typeface="Franklin Gothic Demi"/>
              </a:rPr>
              <a:t>How It Works — Request to Route</a:t>
            </a:r>
          </a:p>
        </p:txBody>
      </p:sp>
      <p:sp>
        <p:nvSpPr>
          <p:cNvPr id="3" name="Rounded Rectangle 2"/>
          <p:cNvSpPr/>
          <p:nvPr/>
        </p:nvSpPr>
        <p:spPr>
          <a:xfrm>
            <a:off x="682599" y="1600200"/>
            <a:ext cx="2514600" cy="1371600"/>
          </a:xfrm>
          <a:prstGeom prst="roundRect">
            <a:avLst/>
          </a:prstGeom>
          <a:solidFill>
            <a:srgbClr val="FFFFFF"/>
          </a:solidFill>
          <a:ln w="22225">
            <a:solidFill>
              <a:srgbClr val="6F9A46"/>
            </a:solid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r>
              <a:rPr sz="1250" b="1" dirty="0">
                <a:solidFill>
                  <a:srgbClr val="2B2B2B"/>
                </a:solidFill>
                <a:latin typeface="Franklin Gothic Demi"/>
              </a:rPr>
              <a:t>User Submits Trip Info</a:t>
            </a:r>
          </a:p>
          <a:p>
            <a:pPr algn="ctr">
              <a:spcBef>
                <a:spcPts val="400"/>
              </a:spcBef>
            </a:pPr>
            <a:r>
              <a:rPr sz="1600" dirty="0">
                <a:solidFill>
                  <a:srgbClr val="6B6B6B"/>
                </a:solidFill>
                <a:latin typeface="Franklin Gothic Book"/>
              </a:rPr>
              <a:t>Time budget, start point, interests — form or free text</a:t>
            </a:r>
          </a:p>
        </p:txBody>
      </p:sp>
      <p:sp>
        <p:nvSpPr>
          <p:cNvPr id="4" name="Oval 3"/>
          <p:cNvSpPr/>
          <p:nvPr/>
        </p:nvSpPr>
        <p:spPr>
          <a:xfrm>
            <a:off x="444855" y="1362456"/>
            <a:ext cx="384048" cy="384048"/>
          </a:xfrm>
          <a:prstGeom prst="ellipse">
            <a:avLst/>
          </a:prstGeom>
          <a:solidFill>
            <a:srgbClr val="6F9A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Franklin Gothic Demi"/>
              </a:rPr>
              <a:t>1</a:t>
            </a:r>
          </a:p>
        </p:txBody>
      </p:sp>
      <p:sp>
        <p:nvSpPr>
          <p:cNvPr id="5" name="Rounded Rectangle 4"/>
          <p:cNvSpPr/>
          <p:nvPr/>
        </p:nvSpPr>
        <p:spPr>
          <a:xfrm>
            <a:off x="3453231" y="1600200"/>
            <a:ext cx="2514600" cy="1371600"/>
          </a:xfrm>
          <a:prstGeom prst="roundRect">
            <a:avLst/>
          </a:prstGeom>
          <a:solidFill>
            <a:srgbClr val="FFFFFF"/>
          </a:solidFill>
          <a:ln w="22225">
            <a:solidFill>
              <a:srgbClr val="D15A35"/>
            </a:solid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r>
              <a:rPr sz="1250" b="1" dirty="0">
                <a:solidFill>
                  <a:srgbClr val="2B2B2B"/>
                </a:solidFill>
                <a:latin typeface="Franklin Gothic Demi"/>
              </a:rPr>
              <a:t>LLM Parses Free Text</a:t>
            </a:r>
          </a:p>
          <a:p>
            <a:pPr algn="ctr">
              <a:spcBef>
                <a:spcPts val="400"/>
              </a:spcBef>
            </a:pPr>
            <a:r>
              <a:rPr sz="1600" dirty="0">
                <a:solidFill>
                  <a:srgbClr val="6B6B6B"/>
                </a:solidFill>
                <a:latin typeface="Franklin Gothic Book"/>
              </a:rPr>
              <a:t>Converts input into structured preference data</a:t>
            </a:r>
          </a:p>
        </p:txBody>
      </p:sp>
      <p:sp>
        <p:nvSpPr>
          <p:cNvPr id="6" name="Oval 5"/>
          <p:cNvSpPr/>
          <p:nvPr/>
        </p:nvSpPr>
        <p:spPr>
          <a:xfrm>
            <a:off x="3215487" y="1362456"/>
            <a:ext cx="384048" cy="384048"/>
          </a:xfrm>
          <a:prstGeom prst="ellipse">
            <a:avLst/>
          </a:prstGeom>
          <a:solidFill>
            <a:srgbClr val="D15A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Franklin Gothic Demi"/>
              </a:rPr>
              <a:t>2</a:t>
            </a:r>
          </a:p>
        </p:txBody>
      </p:sp>
      <p:sp>
        <p:nvSpPr>
          <p:cNvPr id="7" name="Rounded Rectangle 6"/>
          <p:cNvSpPr/>
          <p:nvPr/>
        </p:nvSpPr>
        <p:spPr>
          <a:xfrm>
            <a:off x="6223863" y="1600200"/>
            <a:ext cx="2514600" cy="1371600"/>
          </a:xfrm>
          <a:prstGeom prst="roundRect">
            <a:avLst/>
          </a:prstGeom>
          <a:solidFill>
            <a:srgbClr val="FFFFFF"/>
          </a:solidFill>
          <a:ln w="22225">
            <a:solidFill>
              <a:srgbClr val="3E8592"/>
            </a:solid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r>
              <a:rPr sz="1250" b="1" dirty="0">
                <a:solidFill>
                  <a:srgbClr val="2B2B2B"/>
                </a:solidFill>
                <a:latin typeface="Franklin Gothic Demi"/>
              </a:rPr>
              <a:t>Fetch Candidate POIs</a:t>
            </a:r>
          </a:p>
          <a:p>
            <a:pPr algn="ctr">
              <a:spcBef>
                <a:spcPts val="400"/>
              </a:spcBef>
            </a:pPr>
            <a:r>
              <a:rPr sz="1600" dirty="0" err="1">
                <a:solidFill>
                  <a:srgbClr val="6B6B6B"/>
                </a:solidFill>
                <a:latin typeface="Franklin Gothic Book"/>
              </a:rPr>
              <a:t>PostGIS</a:t>
            </a:r>
            <a:r>
              <a:rPr sz="1600" dirty="0">
                <a:solidFill>
                  <a:srgbClr val="6B6B6B"/>
                </a:solidFill>
                <a:latin typeface="Franklin Gothic Book"/>
              </a:rPr>
              <a:t> query by interest, radius &amp; open hours</a:t>
            </a:r>
          </a:p>
        </p:txBody>
      </p:sp>
      <p:sp>
        <p:nvSpPr>
          <p:cNvPr id="8" name="Oval 7"/>
          <p:cNvSpPr/>
          <p:nvPr/>
        </p:nvSpPr>
        <p:spPr>
          <a:xfrm>
            <a:off x="5986119" y="1362456"/>
            <a:ext cx="384048" cy="384048"/>
          </a:xfrm>
          <a:prstGeom prst="ellipse">
            <a:avLst/>
          </a:prstGeom>
          <a:solidFill>
            <a:srgbClr val="3E859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Franklin Gothic Demi"/>
              </a:rPr>
              <a:t>3</a:t>
            </a:r>
          </a:p>
        </p:txBody>
      </p:sp>
      <p:sp>
        <p:nvSpPr>
          <p:cNvPr id="9" name="Rounded Rectangle 8"/>
          <p:cNvSpPr/>
          <p:nvPr/>
        </p:nvSpPr>
        <p:spPr>
          <a:xfrm>
            <a:off x="8994495" y="1600200"/>
            <a:ext cx="2514600" cy="1371600"/>
          </a:xfrm>
          <a:prstGeom prst="roundRect">
            <a:avLst/>
          </a:prstGeom>
          <a:solidFill>
            <a:srgbClr val="FFFFFF"/>
          </a:solidFill>
          <a:ln w="22225">
            <a:solidFill>
              <a:srgbClr val="3E8592"/>
            </a:solid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r>
              <a:rPr sz="1250" b="1" dirty="0">
                <a:solidFill>
                  <a:srgbClr val="2B2B2B"/>
                </a:solidFill>
                <a:latin typeface="Franklin Gothic Demi"/>
              </a:rPr>
              <a:t>OSRM Travel-Time Matrix</a:t>
            </a:r>
          </a:p>
          <a:p>
            <a:pPr algn="ctr">
              <a:spcBef>
                <a:spcPts val="400"/>
              </a:spcBef>
            </a:pPr>
            <a:r>
              <a:rPr sz="1600" dirty="0">
                <a:solidFill>
                  <a:srgbClr val="6B6B6B"/>
                </a:solidFill>
                <a:latin typeface="Franklin Gothic Book"/>
              </a:rPr>
              <a:t>Real road-network times, not straight-line distance</a:t>
            </a:r>
          </a:p>
        </p:txBody>
      </p:sp>
      <p:sp>
        <p:nvSpPr>
          <p:cNvPr id="10" name="Oval 9"/>
          <p:cNvSpPr/>
          <p:nvPr/>
        </p:nvSpPr>
        <p:spPr>
          <a:xfrm>
            <a:off x="8756751" y="1362456"/>
            <a:ext cx="384048" cy="384048"/>
          </a:xfrm>
          <a:prstGeom prst="ellipse">
            <a:avLst/>
          </a:prstGeom>
          <a:solidFill>
            <a:srgbClr val="3E859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Franklin Gothic Demi"/>
              </a:rPr>
              <a:t>4</a:t>
            </a:r>
          </a:p>
        </p:txBody>
      </p:sp>
      <p:sp>
        <p:nvSpPr>
          <p:cNvPr id="11" name="Rounded Rectangle 10"/>
          <p:cNvSpPr/>
          <p:nvPr/>
        </p:nvSpPr>
        <p:spPr>
          <a:xfrm>
            <a:off x="8994495" y="4343400"/>
            <a:ext cx="2514600" cy="1371600"/>
          </a:xfrm>
          <a:prstGeom prst="roundRect">
            <a:avLst/>
          </a:prstGeom>
          <a:solidFill>
            <a:srgbClr val="FFFFFF"/>
          </a:solidFill>
          <a:ln w="22225">
            <a:solidFill>
              <a:srgbClr val="D9A81C"/>
            </a:solid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r>
              <a:rPr sz="1250" b="1" dirty="0">
                <a:solidFill>
                  <a:srgbClr val="2B2B2B"/>
                </a:solidFill>
                <a:latin typeface="Franklin Gothic Demi"/>
              </a:rPr>
              <a:t>Aggregate Group </a:t>
            </a:r>
            <a:r>
              <a:rPr sz="1250" b="1" dirty="0" err="1">
                <a:solidFill>
                  <a:srgbClr val="2B2B2B"/>
                </a:solidFill>
                <a:latin typeface="Franklin Gothic Demi"/>
              </a:rPr>
              <a:t>Prefs</a:t>
            </a:r>
            <a:endParaRPr sz="1250" b="1" dirty="0">
              <a:solidFill>
                <a:srgbClr val="2B2B2B"/>
              </a:solidFill>
              <a:latin typeface="Franklin Gothic Demi"/>
            </a:endParaRPr>
          </a:p>
          <a:p>
            <a:pPr algn="ctr">
              <a:spcBef>
                <a:spcPts val="400"/>
              </a:spcBef>
            </a:pPr>
            <a:r>
              <a:rPr sz="1600" dirty="0">
                <a:solidFill>
                  <a:srgbClr val="6B6B6B"/>
                </a:solidFill>
                <a:latin typeface="Franklin Gothic Book"/>
              </a:rPr>
              <a:t>Combine members' scores into one shared utility</a:t>
            </a:r>
          </a:p>
        </p:txBody>
      </p:sp>
      <p:sp>
        <p:nvSpPr>
          <p:cNvPr id="12" name="Oval 11"/>
          <p:cNvSpPr/>
          <p:nvPr/>
        </p:nvSpPr>
        <p:spPr>
          <a:xfrm>
            <a:off x="8756751" y="4105656"/>
            <a:ext cx="384048" cy="384048"/>
          </a:xfrm>
          <a:prstGeom prst="ellipse">
            <a:avLst/>
          </a:prstGeom>
          <a:solidFill>
            <a:srgbClr val="D9A81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Franklin Gothic Demi"/>
              </a:rPr>
              <a:t>5</a:t>
            </a:r>
          </a:p>
        </p:txBody>
      </p:sp>
      <p:sp>
        <p:nvSpPr>
          <p:cNvPr id="13" name="Rounded Rectangle 12"/>
          <p:cNvSpPr/>
          <p:nvPr/>
        </p:nvSpPr>
        <p:spPr>
          <a:xfrm>
            <a:off x="6223863" y="4343400"/>
            <a:ext cx="2514600" cy="1371600"/>
          </a:xfrm>
          <a:prstGeom prst="roundRect">
            <a:avLst/>
          </a:prstGeom>
          <a:solidFill>
            <a:srgbClr val="FFFFFF"/>
          </a:solidFill>
          <a:ln w="22225">
            <a:solidFill>
              <a:srgbClr val="D9A81C"/>
            </a:solid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r>
              <a:rPr sz="1250" b="1" dirty="0">
                <a:solidFill>
                  <a:srgbClr val="2B2B2B"/>
                </a:solidFill>
                <a:latin typeface="Franklin Gothic Demi"/>
              </a:rPr>
              <a:t>OR-Tools Solves TOPTW</a:t>
            </a:r>
          </a:p>
          <a:p>
            <a:pPr algn="ctr">
              <a:spcBef>
                <a:spcPts val="400"/>
              </a:spcBef>
            </a:pPr>
            <a:r>
              <a:rPr sz="1600" dirty="0">
                <a:solidFill>
                  <a:srgbClr val="6B6B6B"/>
                </a:solidFill>
                <a:latin typeface="Franklin Gothic Book"/>
              </a:rPr>
              <a:t>Selects &amp; sequences a feasible, near-optimal route</a:t>
            </a:r>
          </a:p>
        </p:txBody>
      </p:sp>
      <p:sp>
        <p:nvSpPr>
          <p:cNvPr id="14" name="Oval 13"/>
          <p:cNvSpPr/>
          <p:nvPr/>
        </p:nvSpPr>
        <p:spPr>
          <a:xfrm>
            <a:off x="5986119" y="4105656"/>
            <a:ext cx="384048" cy="384048"/>
          </a:xfrm>
          <a:prstGeom prst="ellipse">
            <a:avLst/>
          </a:prstGeom>
          <a:solidFill>
            <a:srgbClr val="D9A81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Franklin Gothic Demi"/>
              </a:rPr>
              <a:t>6</a:t>
            </a:r>
          </a:p>
        </p:txBody>
      </p:sp>
      <p:sp>
        <p:nvSpPr>
          <p:cNvPr id="15" name="Rounded Rectangle 14"/>
          <p:cNvSpPr/>
          <p:nvPr/>
        </p:nvSpPr>
        <p:spPr>
          <a:xfrm>
            <a:off x="3453231" y="4343400"/>
            <a:ext cx="2514600" cy="1371600"/>
          </a:xfrm>
          <a:prstGeom prst="roundRect">
            <a:avLst/>
          </a:prstGeom>
          <a:solidFill>
            <a:srgbClr val="FFFFFF"/>
          </a:solidFill>
          <a:ln w="22225">
            <a:solidFill>
              <a:srgbClr val="D15A35"/>
            </a:solid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r>
              <a:rPr sz="1250" b="1" dirty="0">
                <a:solidFill>
                  <a:srgbClr val="2B2B2B"/>
                </a:solidFill>
                <a:latin typeface="Franklin Gothic Demi"/>
              </a:rPr>
              <a:t>LLM Explains Trade-offs</a:t>
            </a:r>
          </a:p>
          <a:p>
            <a:pPr algn="ctr">
              <a:spcBef>
                <a:spcPts val="400"/>
              </a:spcBef>
            </a:pPr>
            <a:r>
              <a:rPr sz="1600" dirty="0">
                <a:solidFill>
                  <a:srgbClr val="6B6B6B"/>
                </a:solidFill>
                <a:latin typeface="Franklin Gothic Book"/>
              </a:rPr>
              <a:t>Plain-language rationale for the chosen route</a:t>
            </a:r>
          </a:p>
        </p:txBody>
      </p:sp>
      <p:sp>
        <p:nvSpPr>
          <p:cNvPr id="16" name="Oval 15"/>
          <p:cNvSpPr/>
          <p:nvPr/>
        </p:nvSpPr>
        <p:spPr>
          <a:xfrm>
            <a:off x="3215487" y="4105656"/>
            <a:ext cx="384048" cy="384048"/>
          </a:xfrm>
          <a:prstGeom prst="ellipse">
            <a:avLst/>
          </a:prstGeom>
          <a:solidFill>
            <a:srgbClr val="D15A3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Franklin Gothic Demi"/>
              </a:rPr>
              <a:t>7</a:t>
            </a:r>
          </a:p>
        </p:txBody>
      </p:sp>
      <p:sp>
        <p:nvSpPr>
          <p:cNvPr id="17" name="Rounded Rectangle 16"/>
          <p:cNvSpPr/>
          <p:nvPr/>
        </p:nvSpPr>
        <p:spPr>
          <a:xfrm>
            <a:off x="682599" y="4343400"/>
            <a:ext cx="2514600" cy="1371600"/>
          </a:xfrm>
          <a:prstGeom prst="roundRect">
            <a:avLst/>
          </a:prstGeom>
          <a:solidFill>
            <a:srgbClr val="FFFFFF"/>
          </a:solidFill>
          <a:ln w="22225">
            <a:solidFill>
              <a:srgbClr val="6F9A46"/>
            </a:solid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rtlCol="0" anchor="ctr"/>
          <a:lstStyle/>
          <a:p>
            <a:pPr algn="ctr"/>
            <a:r>
              <a:rPr sz="1250" b="1" dirty="0">
                <a:solidFill>
                  <a:srgbClr val="2B2B2B"/>
                </a:solidFill>
                <a:latin typeface="Franklin Gothic Demi"/>
              </a:rPr>
              <a:t>Render &amp; Save Route</a:t>
            </a:r>
          </a:p>
          <a:p>
            <a:pPr algn="ctr">
              <a:spcBef>
                <a:spcPts val="400"/>
              </a:spcBef>
            </a:pPr>
            <a:r>
              <a:rPr sz="1600" dirty="0">
                <a:solidFill>
                  <a:srgbClr val="6B6B6B"/>
                </a:solidFill>
                <a:latin typeface="Franklin Gothic Book"/>
              </a:rPr>
              <a:t>Shown on the Leaflet.js map; saved if logged in</a:t>
            </a:r>
          </a:p>
        </p:txBody>
      </p:sp>
      <p:sp>
        <p:nvSpPr>
          <p:cNvPr id="18" name="Oval 17"/>
          <p:cNvSpPr/>
          <p:nvPr/>
        </p:nvSpPr>
        <p:spPr>
          <a:xfrm>
            <a:off x="444855" y="4105656"/>
            <a:ext cx="384048" cy="384048"/>
          </a:xfrm>
          <a:prstGeom prst="ellipse">
            <a:avLst/>
          </a:prstGeom>
          <a:solidFill>
            <a:srgbClr val="6F9A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Franklin Gothic Demi"/>
              </a:rPr>
              <a:t>8</a:t>
            </a:r>
          </a:p>
        </p:txBody>
      </p:sp>
      <p:sp>
        <p:nvSpPr>
          <p:cNvPr id="19" name="Right Arrow 18"/>
          <p:cNvSpPr/>
          <p:nvPr/>
        </p:nvSpPr>
        <p:spPr>
          <a:xfrm>
            <a:off x="3224631" y="2139696"/>
            <a:ext cx="201168" cy="292608"/>
          </a:xfrm>
          <a:prstGeom prst="righ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ight Arrow 19"/>
          <p:cNvSpPr/>
          <p:nvPr/>
        </p:nvSpPr>
        <p:spPr>
          <a:xfrm>
            <a:off x="5995263" y="2139696"/>
            <a:ext cx="201168" cy="292608"/>
          </a:xfrm>
          <a:prstGeom prst="righ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20"/>
          <p:cNvSpPr/>
          <p:nvPr/>
        </p:nvSpPr>
        <p:spPr>
          <a:xfrm>
            <a:off x="8765895" y="2139696"/>
            <a:ext cx="201168" cy="292608"/>
          </a:xfrm>
          <a:prstGeom prst="righ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own Arrow 21"/>
          <p:cNvSpPr/>
          <p:nvPr/>
        </p:nvSpPr>
        <p:spPr>
          <a:xfrm>
            <a:off x="10105491" y="3026664"/>
            <a:ext cx="292608" cy="1261872"/>
          </a:xfrm>
          <a:prstGeom prst="down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ft Arrow 22"/>
          <p:cNvSpPr/>
          <p:nvPr/>
        </p:nvSpPr>
        <p:spPr>
          <a:xfrm>
            <a:off x="8765895" y="4882896"/>
            <a:ext cx="201168" cy="292608"/>
          </a:xfrm>
          <a:prstGeom prst="lef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Left Arrow 23"/>
          <p:cNvSpPr/>
          <p:nvPr/>
        </p:nvSpPr>
        <p:spPr>
          <a:xfrm>
            <a:off x="5995263" y="4882896"/>
            <a:ext cx="201168" cy="292608"/>
          </a:xfrm>
          <a:prstGeom prst="lef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Left Arrow 24"/>
          <p:cNvSpPr/>
          <p:nvPr/>
        </p:nvSpPr>
        <p:spPr>
          <a:xfrm>
            <a:off x="3224631" y="4882896"/>
            <a:ext cx="201168" cy="292608"/>
          </a:xfrm>
          <a:prstGeom prst="leftArrow">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652197"/>
          </a:xfrm>
        </p:spPr>
        <p:txBody>
          <a:bodyPr/>
          <a:lstStyle/>
          <a:p>
            <a:r>
              <a:rPr lang="en-US" b="0" dirty="0"/>
              <a:t>Research Contributions</a:t>
            </a:r>
          </a:p>
        </p:txBody>
      </p:sp>
      <p:sp>
        <p:nvSpPr>
          <p:cNvPr id="10" name="Text Placeholder 9"/>
          <p:cNvSpPr>
            <a:spLocks noGrp="1"/>
          </p:cNvSpPr>
          <p:nvPr>
            <p:ph sz="quarter" idx="13"/>
          </p:nvPr>
        </p:nvSpPr>
        <p:spPr/>
        <p:txBody>
          <a:bodyPr>
            <a:normAutofit/>
          </a:bodyPr>
          <a:lstStyle/>
          <a:p>
            <a:pPr marL="342900" indent="-342900">
              <a:buFont typeface="Arial" panose="020B0604020202020204" pitchFamily="34" charset="0"/>
              <a:buChar char="•"/>
            </a:pPr>
            <a:r>
              <a:rPr lang="en-US" sz="1800" dirty="0"/>
              <a:t>An optimization-grounded alternative to pure-LLM itinerary generation, replacing pattern-matched plans with a provably time-window-feasible TOPTW solution</a:t>
            </a:r>
          </a:p>
          <a:p>
            <a:pPr marL="342900" indent="-342900">
              <a:buFont typeface="Arial" panose="020B0604020202020204" pitchFamily="34" charset="0"/>
              <a:buChar char="•"/>
            </a:pPr>
            <a:r>
              <a:rPr lang="en-US" sz="1800" dirty="0"/>
              <a:t>A fair multi-objective preference-aggregation scheme that combines several travelers' interests into one shared, balanced route</a:t>
            </a:r>
          </a:p>
          <a:p>
            <a:pPr marL="342900" indent="-342900">
              <a:buFont typeface="Arial" panose="020B0604020202020204" pitchFamily="34" charset="0"/>
              <a:buChar char="•"/>
            </a:pPr>
            <a:r>
              <a:rPr lang="en-US" sz="1800" dirty="0"/>
              <a:t>A reusable evaluation methodology — logging travel time and time-window violations — for apples-to-apples comparison against future itinerary-planning approaches</a:t>
            </a:r>
          </a:p>
        </p:txBody>
      </p:sp>
      <p:sp>
        <p:nvSpPr>
          <p:cNvPr id="11" name="Text Placeholder 10"/>
          <p:cNvSpPr>
            <a:spLocks noGrp="1"/>
          </p:cNvSpPr>
          <p:nvPr>
            <p:ph sz="quarter" idx="14"/>
          </p:nvPr>
        </p:nvSpPr>
        <p:spPr/>
        <p:txBody>
          <a:bodyPr>
            <a:normAutofit/>
          </a:bodyPr>
          <a:lstStyle/>
          <a:p>
            <a:r>
              <a:rPr lang="en-US" sz="1800" dirty="0"/>
              <a:t>A hybrid solver + LLM architecture where the LLM is strictly confined to parsing and explanation, keeping route decisions auditable and constraint-safe</a:t>
            </a:r>
          </a:p>
          <a:p>
            <a:r>
              <a:rPr lang="en-US" sz="1800" dirty="0"/>
              <a:t>A documented head-to-head evaluation of the OR-Tools pipeline against a baseline pure-LLM planner on identical Jaipur test scenarios</a:t>
            </a:r>
          </a:p>
          <a:p>
            <a:r>
              <a:rPr lang="en-US" sz="1800" dirty="0"/>
              <a:t>An accessible presentation layer (interactive map + plain-language explanations) that makes optimization-grade planning legible to non-technical travelers</a:t>
            </a:r>
          </a:p>
        </p:txBody>
      </p:sp>
    </p:spTree>
    <p:extLst>
      <p:ext uri="{BB962C8B-B14F-4D97-AF65-F5344CB8AC3E}">
        <p14:creationId xmlns:p14="http://schemas.microsoft.com/office/powerpoint/2010/main" val="1850768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7AEFA-FDDE-C4C0-D493-C4A37C784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C39E3-4319-B594-3D5C-4B469A18EB01}"/>
              </a:ext>
            </a:extLst>
          </p:cNvPr>
          <p:cNvSpPr>
            <a:spLocks noGrp="1"/>
          </p:cNvSpPr>
          <p:nvPr>
            <p:ph type="title"/>
          </p:nvPr>
        </p:nvSpPr>
        <p:spPr>
          <a:xfrm>
            <a:off x="594360" y="198408"/>
            <a:ext cx="10972800" cy="652197"/>
          </a:xfrm>
        </p:spPr>
        <p:txBody>
          <a:bodyPr/>
          <a:lstStyle/>
          <a:p>
            <a:r>
              <a:rPr lang="en-US" b="0" dirty="0"/>
              <a:t>Conclusions</a:t>
            </a:r>
          </a:p>
        </p:txBody>
      </p:sp>
      <p:sp>
        <p:nvSpPr>
          <p:cNvPr id="10" name="Text Placeholder 9"/>
          <p:cNvSpPr>
            <a:spLocks noGrp="1"/>
          </p:cNvSpPr>
          <p:nvPr>
            <p:ph sz="quarter" idx="13"/>
          </p:nvPr>
        </p:nvSpPr>
        <p:spPr>
          <a:xfrm>
            <a:off x="595523" y="1460938"/>
            <a:ext cx="4809597" cy="4813057"/>
          </a:xfrm>
        </p:spPr>
        <p:txBody>
          <a:bodyPr>
            <a:normAutofit/>
          </a:bodyPr>
          <a:lstStyle/>
          <a:p>
            <a:r>
              <a:rPr lang="en-US" sz="1800" b="1" dirty="0">
                <a:solidFill>
                  <a:srgbClr val="002060"/>
                </a:solidFill>
              </a:rPr>
              <a:t>Expected Outcome</a:t>
            </a:r>
          </a:p>
          <a:p>
            <a:pPr marL="342900" indent="-342900">
              <a:buFont typeface="Arial" panose="020B0604020202020204" pitchFamily="34" charset="0"/>
              <a:buChar char="•"/>
            </a:pPr>
            <a:r>
              <a:rPr lang="en-US" sz="1800" dirty="0"/>
              <a:t>A working prototype, seeded with real Jaipur attraction data, that returns provably time-window-feasible, near-optimal routes for solo and group travelers</a:t>
            </a:r>
          </a:p>
          <a:p>
            <a:pPr marL="342900" indent="-342900">
              <a:buFont typeface="Arial" panose="020B0604020202020204" pitchFamily="34" charset="0"/>
              <a:buChar char="•"/>
            </a:pPr>
            <a:r>
              <a:rPr lang="en-US" sz="1800" dirty="0"/>
              <a:t>Measurable improvement over naive/manual planning in total travel time and time-window violations avoided, backed by a documented comparison against a pure-LLM baseline</a:t>
            </a:r>
          </a:p>
          <a:p>
            <a:pPr marL="342900" indent="-342900">
              <a:buFont typeface="Arial" panose="020B0604020202020204" pitchFamily="34" charset="0"/>
              <a:buChar char="•"/>
            </a:pPr>
            <a:r>
              <a:rPr lang="en-US" sz="1800" dirty="0"/>
              <a:t>A reproducible, seeded Jaipur dataset and evaluation pipeline that future work can extend to other cities</a:t>
            </a:r>
          </a:p>
        </p:txBody>
      </p:sp>
      <p:sp>
        <p:nvSpPr>
          <p:cNvPr id="11" name="Text Placeholder 10"/>
          <p:cNvSpPr>
            <a:spLocks noGrp="1"/>
          </p:cNvSpPr>
          <p:nvPr>
            <p:ph sz="quarter" idx="14"/>
          </p:nvPr>
        </p:nvSpPr>
        <p:spPr>
          <a:xfrm>
            <a:off x="6096000" y="1460938"/>
            <a:ext cx="4389120" cy="4813057"/>
          </a:xfrm>
        </p:spPr>
        <p:txBody>
          <a:bodyPr>
            <a:normAutofit/>
          </a:bodyPr>
          <a:lstStyle/>
          <a:p>
            <a:pPr marL="0" indent="0">
              <a:buNone/>
            </a:pPr>
            <a:r>
              <a:rPr lang="en-US" sz="1800" b="1" dirty="0">
                <a:solidFill>
                  <a:srgbClr val="002060"/>
                </a:solidFill>
              </a:rPr>
              <a:t>Future Scope</a:t>
            </a:r>
          </a:p>
          <a:p>
            <a:r>
              <a:rPr lang="en-US" sz="1800" dirty="0"/>
              <a:t>Extend the city-agnostic backend to additional cities beyond Jaipur</a:t>
            </a:r>
          </a:p>
          <a:p>
            <a:r>
              <a:rPr lang="en-US" sz="1800" dirty="0"/>
              <a:t>Add live re-optimization over a WebSocket channel for real-time group edits</a:t>
            </a:r>
          </a:p>
          <a:p>
            <a:r>
              <a:rPr lang="en-US" sz="1800" dirty="0"/>
              <a:t>Refine the group-fairness weighting scheme identified as a TBD item during design</a:t>
            </a:r>
          </a:p>
          <a:p>
            <a:r>
              <a:rPr lang="en-US" sz="1800" dirty="0"/>
              <a:t>Incorporate live/time-of-day traffic-aware travel times and multi-day itinerary planning</a:t>
            </a:r>
          </a:p>
        </p:txBody>
      </p:sp>
    </p:spTree>
    <p:extLst>
      <p:ext uri="{BB962C8B-B14F-4D97-AF65-F5344CB8AC3E}">
        <p14:creationId xmlns:p14="http://schemas.microsoft.com/office/powerpoint/2010/main" val="291956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2520E-6B4C-60D2-CDA7-2625DE050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537CD-2CEA-566A-267A-D73831868B39}"/>
              </a:ext>
            </a:extLst>
          </p:cNvPr>
          <p:cNvSpPr>
            <a:spLocks noGrp="1"/>
          </p:cNvSpPr>
          <p:nvPr>
            <p:ph type="title"/>
          </p:nvPr>
        </p:nvSpPr>
        <p:spPr>
          <a:xfrm>
            <a:off x="594360" y="198408"/>
            <a:ext cx="10972800" cy="652197"/>
          </a:xfrm>
        </p:spPr>
        <p:txBody>
          <a:bodyPr/>
          <a:lstStyle/>
          <a:p>
            <a:r>
              <a:rPr lang="en-US" b="0" dirty="0"/>
              <a:t>References</a:t>
            </a:r>
          </a:p>
        </p:txBody>
      </p:sp>
      <p:sp>
        <p:nvSpPr>
          <p:cNvPr id="10" name="Text Placeholder 9"/>
          <p:cNvSpPr>
            <a:spLocks noGrp="1"/>
          </p:cNvSpPr>
          <p:nvPr>
            <p:ph sz="quarter" idx="13"/>
          </p:nvPr>
        </p:nvSpPr>
        <p:spPr/>
        <p:txBody>
          <a:bodyPr>
            <a:normAutofit/>
          </a:bodyPr>
          <a:lstStyle/>
          <a:p>
            <a:pPr marL="342900" indent="-342900">
              <a:buFont typeface="Arial" panose="020B0604020202020204" pitchFamily="34" charset="0"/>
              <a:buChar char="•"/>
            </a:pPr>
            <a:r>
              <a:rPr lang="en-US" sz="1600" dirty="0"/>
              <a:t>Xie, J. et al., "TravelPlanner: A Benchmark for Real-World Planning with Language Agents," ICML 2024</a:t>
            </a:r>
          </a:p>
          <a:p>
            <a:pPr marL="342900" indent="-342900">
              <a:buFont typeface="Arial" panose="020B0604020202020204" pitchFamily="34" charset="0"/>
              <a:buChar char="•"/>
            </a:pPr>
            <a:r>
              <a:rPr lang="en-US" sz="1600" dirty="0"/>
              <a:t>Google OR-Tools Documentation — developers.google.com/optimization</a:t>
            </a:r>
          </a:p>
          <a:p>
            <a:pPr marL="342900" indent="-342900">
              <a:buFont typeface="Arial" panose="020B0604020202020204" pitchFamily="34" charset="0"/>
              <a:buChar char="•"/>
            </a:pPr>
            <a:r>
              <a:rPr lang="en-US" sz="1600" dirty="0"/>
              <a:t>Vansteenwegen, P., Souffriau, W., &amp; Van Oudheusden, D. (2011). "The Orienteering Problem: A Survey." European Journal of Operational Research, 209(1), 1–10</a:t>
            </a:r>
          </a:p>
          <a:p>
            <a:pPr marL="342900" indent="-342900">
              <a:buFont typeface="Arial" panose="020B0604020202020204" pitchFamily="34" charset="0"/>
              <a:buChar char="•"/>
            </a:pPr>
            <a:r>
              <a:rPr lang="en-US" sz="1600" dirty="0"/>
              <a:t>Masthoff, J. (2011). "Group Recommender Systems: Combining Individual Models." In Recommender Systems Handbook, Springer</a:t>
            </a:r>
          </a:p>
        </p:txBody>
      </p:sp>
      <p:sp>
        <p:nvSpPr>
          <p:cNvPr id="11" name="Text Placeholder 10"/>
          <p:cNvSpPr>
            <a:spLocks noGrp="1"/>
          </p:cNvSpPr>
          <p:nvPr>
            <p:ph sz="quarter" idx="14"/>
          </p:nvPr>
        </p:nvSpPr>
        <p:spPr>
          <a:xfrm>
            <a:off x="6568265" y="1460937"/>
            <a:ext cx="4714415" cy="4813057"/>
          </a:xfrm>
        </p:spPr>
        <p:txBody>
          <a:bodyPr>
            <a:normAutofit/>
          </a:bodyPr>
          <a:lstStyle/>
          <a:p>
            <a:r>
              <a:rPr lang="en-US" sz="1600" dirty="0"/>
              <a:t>OSRM Project Documentation — project-osrm.org</a:t>
            </a:r>
          </a:p>
          <a:p>
            <a:r>
              <a:rPr lang="en-US" sz="1600" dirty="0"/>
              <a:t>IEEE Std 830-1998, IEEE Recommended Practice for Software Requirements Specifications</a:t>
            </a:r>
          </a:p>
          <a:p>
            <a:r>
              <a:rPr lang="en-US" sz="1600" dirty="0"/>
              <a:t>Jones, M., Bradley, J., &amp; </a:t>
            </a:r>
            <a:r>
              <a:rPr lang="en-US" sz="1600" dirty="0" err="1"/>
              <a:t>Sakimura</a:t>
            </a:r>
            <a:r>
              <a:rPr lang="en-US" sz="1600" dirty="0"/>
              <a:t>, N. (2015). RFC 7519: JSON Web Token (JWT), IETF — datatracker.ietf.org/doc/html/rfc7519</a:t>
            </a:r>
          </a:p>
          <a:p>
            <a:r>
              <a:rPr lang="en-US" sz="1600" dirty="0" err="1"/>
              <a:t>PostGIS</a:t>
            </a:r>
            <a:r>
              <a:rPr lang="en-US" sz="1600" dirty="0"/>
              <a:t> Documentation — postgis.net</a:t>
            </a:r>
          </a:p>
        </p:txBody>
      </p:sp>
    </p:spTree>
    <p:extLst>
      <p:ext uri="{BB962C8B-B14F-4D97-AF65-F5344CB8AC3E}">
        <p14:creationId xmlns:p14="http://schemas.microsoft.com/office/powerpoint/2010/main" val="1424213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1275907" y="411479"/>
            <a:ext cx="4804853" cy="2852716"/>
          </a:xfrm>
        </p:spPr>
        <p:txBody>
          <a:bodyPr/>
          <a:lstStyle/>
          <a:p>
            <a:r>
              <a:rPr lang="en-US" dirty="0"/>
              <a:t>Thank you</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type="body" sz="quarter" idx="11"/>
          </p:nvPr>
        </p:nvSpPr>
        <p:spPr>
          <a:xfrm>
            <a:off x="1275907" y="3721395"/>
            <a:ext cx="5947853" cy="2573079"/>
          </a:xfrm>
        </p:spPr>
        <p:txBody>
          <a:bodyPr/>
          <a:lstStyle/>
          <a:p>
            <a:r>
              <a:rPr lang="en-US" dirty="0">
                <a:solidFill>
                  <a:srgbClr val="002060"/>
                </a:solidFill>
              </a:rPr>
              <a:t>Vidushi Himmatramka (BTECH/25139/23)</a:t>
            </a:r>
          </a:p>
          <a:p>
            <a:r>
              <a:rPr lang="en-US" dirty="0">
                <a:solidFill>
                  <a:srgbClr val="002060"/>
                </a:solidFill>
              </a:rPr>
              <a:t>Vedanshi Goyal (BTECH/25167/23)</a:t>
            </a:r>
            <a:br>
              <a:rPr lang="en-US" dirty="0">
                <a:solidFill>
                  <a:srgbClr val="002060"/>
                </a:solidFill>
              </a:rPr>
            </a:br>
            <a:br>
              <a:rPr lang="en-US" dirty="0">
                <a:solidFill>
                  <a:srgbClr val="002060"/>
                </a:solidFill>
              </a:rPr>
            </a:br>
            <a:r>
              <a:rPr lang="en-IN" dirty="0">
                <a:solidFill>
                  <a:srgbClr val="002060"/>
                </a:solidFill>
              </a:rPr>
              <a:t>Under the Supervision of</a:t>
            </a:r>
          </a:p>
          <a:p>
            <a:r>
              <a:rPr lang="en-IN" dirty="0">
                <a:solidFill>
                  <a:srgbClr val="C00000"/>
                </a:solidFill>
              </a:rPr>
              <a:t>Dr. Seema Gaur</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annual presentation" id="{6AF99D71-6CA7-4F48-A0D8-E0ABAD29D746}" vid="{EB5DC74D-0F09-4947-8F7F-C7D99ACAED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A8ECD1-788F-484B-9043-D957FCFDF1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0FE134-9032-4C7F-BC57-C7DE3F833363}">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36D24F1A-6251-4B9A-A918-7D6F3A8F7E2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153</TotalTime>
  <Words>2598</Words>
  <Application>Microsoft Office PowerPoint</Application>
  <PresentationFormat>Widescreen</PresentationFormat>
  <Paragraphs>225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Franklin Gothic Book</vt:lpstr>
      <vt:lpstr>Franklin Gothic Demi</vt:lpstr>
      <vt:lpstr>Custom</vt:lpstr>
      <vt:lpstr>TripSolve: An Optimization-Grade Group Itinerary Planner for Jaipur Tourism</vt:lpstr>
      <vt:lpstr>Table of contents</vt:lpstr>
      <vt:lpstr>Introduction</vt:lpstr>
      <vt:lpstr>Problem Statement / List of Objectives</vt:lpstr>
      <vt:lpstr>How TripSolve Solves It — TOPTW at a Glance</vt:lpstr>
      <vt:lpstr>Dataset Description</vt:lpstr>
      <vt:lpstr>Design and Methodology</vt:lpstr>
      <vt:lpstr>System Architecture</vt:lpstr>
      <vt:lpstr>How It Works — Request to Route</vt:lpstr>
      <vt:lpstr>Research Contributions</vt:lpstr>
      <vt:lpstr>Conclusions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Vedanshi Goyal</cp:lastModifiedBy>
  <cp:revision>9</cp:revision>
  <dcterms:created xsi:type="dcterms:W3CDTF">2023-12-20T08:12:12Z</dcterms:created>
  <dcterms:modified xsi:type="dcterms:W3CDTF">2026-09-22T05:11:48Z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